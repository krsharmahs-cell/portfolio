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4630400" cy="8229600"/>
  <p:notesSz cx="8229600" cy="14630400"/>
  <p:embeddedFontLst>
    <p:embeddedFont>
      <p:font typeface="Inter"/>
      <p:regular r:id="rId16"/>
    </p:embeddedFont>
    <p:embeddedFont>
      <p:font typeface="Inter"/>
      <p:regular r:id="rId17"/>
    </p:embeddedFont>
    <p:embeddedFont>
      <p:font typeface="Inter"/>
      <p:regular r:id="rId18"/>
    </p:embeddedFont>
    <p:embeddedFont>
      <p:font typeface="Inter"/>
      <p:regular r:id="rId19"/>
    </p:embeddedFont>
    <p:embeddedFont>
      <p:font typeface="Inter"/>
      <p:regular r:id="rId20"/>
    </p:embeddedFont>
    <p:embeddedFont>
      <p:font typeface="Inter"/>
      <p:regular r:id="rId21"/>
    </p:embeddedFont>
    <p:embeddedFont>
      <p:font typeface="Inter"/>
      <p:regular r:id="rId22"/>
    </p:embeddedFont>
    <p:embeddedFont>
      <p:font typeface="Inter"/>
      <p:regular r:id="rId23"/>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openxmlformats.org/officeDocument/2006/relationships/font" Target="fonts/font1.fntdata"/><Relationship Id="rId17" Type="http://schemas.openxmlformats.org/officeDocument/2006/relationships/font" Target="fonts/font2.fntdata"/><Relationship Id="rId18" Type="http://schemas.openxmlformats.org/officeDocument/2006/relationships/font" Target="fonts/font3.fntdata"/><Relationship Id="rId19" Type="http://schemas.openxmlformats.org/officeDocument/2006/relationships/font" Target="fonts/font4.fntdata"/><Relationship Id="rId20" Type="http://schemas.openxmlformats.org/officeDocument/2006/relationships/font" Target="fonts/font5.fntdata"/><Relationship Id="rId21" Type="http://schemas.openxmlformats.org/officeDocument/2006/relationships/font" Target="fonts/font6.fntdata"/><Relationship Id="rId22" Type="http://schemas.openxmlformats.org/officeDocument/2006/relationships/font" Target="fonts/font7.fntdata"/><Relationship Id="rId23"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different first  page 
can you paste it i give you picture of it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0-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5.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image" Target="../media/image-5-3.png"/><Relationship Id="rId4" Type="http://schemas.openxmlformats.org/officeDocument/2006/relationships/image" Target="../media/image-5-4.svg"/><Relationship Id="rId5" Type="http://schemas.openxmlformats.org/officeDocument/2006/relationships/image" Target="../media/image-5-5.png"/><Relationship Id="rId6" Type="http://schemas.openxmlformats.org/officeDocument/2006/relationships/image" Target="../media/image-5-6.svg"/><Relationship Id="rId7" Type="http://schemas.openxmlformats.org/officeDocument/2006/relationships/image" Target="../media/image-5-7.png"/><Relationship Id="rId8" Type="http://schemas.openxmlformats.org/officeDocument/2006/relationships/image" Target="../media/image-5-8.svg"/><Relationship Id="rId9" Type="http://schemas.openxmlformats.org/officeDocument/2006/relationships/slideLayout" Target="../slideLayouts/slideLayout6.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svg"/><Relationship Id="rId3" Type="http://schemas.openxmlformats.org/officeDocument/2006/relationships/image" Target="../media/image-7-3.png"/><Relationship Id="rId4" Type="http://schemas.openxmlformats.org/officeDocument/2006/relationships/image" Target="../media/image-7-4.svg"/><Relationship Id="rId5" Type="http://schemas.openxmlformats.org/officeDocument/2006/relationships/image" Target="../media/image-7-5.png"/><Relationship Id="rId6" Type="http://schemas.openxmlformats.org/officeDocument/2006/relationships/image" Target="../media/image-7-6.svg"/><Relationship Id="rId7" Type="http://schemas.openxmlformats.org/officeDocument/2006/relationships/image" Target="../media/image-7-7.png"/><Relationship Id="rId8" Type="http://schemas.openxmlformats.org/officeDocument/2006/relationships/image" Target="../media/image-7-8.svg"/><Relationship Id="rId9" Type="http://schemas.openxmlformats.org/officeDocument/2006/relationships/slideLayout" Target="../slideLayouts/slideLayout8.xml"/><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9.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0.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93790" y="671036"/>
            <a:ext cx="13042821" cy="688752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894159"/>
            <a:ext cx="10831592" cy="708779"/>
          </a:xfrm>
          <a:prstGeom prst="rect">
            <a:avLst/>
          </a:prstGeom>
          <a:noFill/>
          <a:ln/>
        </p:spPr>
        <p:txBody>
          <a:bodyPr wrap="none" lIns="0" tIns="0" rIns="0" bIns="0" rtlCol="0" anchor="t"/>
          <a:lstStyle/>
          <a:p>
            <a:pPr algn="l" indent="0" marL="0">
              <a:lnSpc>
                <a:spcPts val="5550"/>
              </a:lnSpc>
              <a:buNone/>
            </a:pPr>
            <a:r>
              <a:rPr lang="en-US" sz="4450" b="1" dirty="0">
                <a:solidFill>
                  <a:srgbClr val="000000"/>
                </a:solidFill>
                <a:latin typeface="Inter Bold" pitchFamily="34" charset="0"/>
                <a:ea typeface="Inter Bold" pitchFamily="34" charset="-122"/>
                <a:cs typeface="Inter Bold" pitchFamily="34" charset="-120"/>
              </a:rPr>
              <a:t>Certification by WNS Cares Foundation</a:t>
            </a:r>
            <a:endParaRPr lang="en-US" sz="4450" dirty="0"/>
          </a:p>
        </p:txBody>
      </p:sp>
      <p:sp>
        <p:nvSpPr>
          <p:cNvPr id="3" name="Text 1"/>
          <p:cNvSpPr/>
          <p:nvPr/>
        </p:nvSpPr>
        <p:spPr>
          <a:xfrm>
            <a:off x="793790" y="2147173"/>
            <a:ext cx="8691920" cy="725805"/>
          </a:xfrm>
          <a:prstGeom prst="rect">
            <a:avLst/>
          </a:prstGeom>
          <a:noFill/>
          <a:ln/>
        </p:spPr>
        <p:txBody>
          <a:bodyPr wrap="square" lIns="0" tIns="0" rIns="0" bIns="0" rtlCol="0" anchor="t"/>
          <a:lstStyle/>
          <a:p>
            <a:pPr algn="l" indent="0" marL="0">
              <a:lnSpc>
                <a:spcPts val="2850"/>
              </a:lnSpc>
              <a:buNone/>
            </a:pPr>
            <a:r>
              <a:rPr lang="en-US" sz="1750" dirty="0">
                <a:solidFill>
                  <a:srgbClr val="272525"/>
                </a:solidFill>
                <a:latin typeface="Inter" pitchFamily="34" charset="0"/>
                <a:ea typeface="Inter" pitchFamily="34" charset="-122"/>
                <a:cs typeface="Inter" pitchFamily="34" charset="-120"/>
              </a:rPr>
              <a:t>This certifies that Mr. Keshav Sharma successfully completed the project titled </a:t>
            </a:r>
            <a:pPr algn="l" indent="0" marL="0">
              <a:lnSpc>
                <a:spcPts val="2850"/>
              </a:lnSpc>
              <a:buNone/>
            </a:pPr>
            <a:r>
              <a:rPr lang="en-US" sz="1750" b="1" dirty="0">
                <a:solidFill>
                  <a:srgbClr val="272525"/>
                </a:solidFill>
                <a:latin typeface="Inter" pitchFamily="34" charset="0"/>
                <a:ea typeface="Inter" pitchFamily="34" charset="-122"/>
                <a:cs typeface="Inter" pitchFamily="34" charset="-120"/>
              </a:rPr>
              <a:t>"Cyber Security Awareness Drive through WNS Cares Foundation."</a:t>
            </a:r>
            <a:endParaRPr lang="en-US" sz="1750" dirty="0"/>
          </a:p>
        </p:txBody>
      </p:sp>
      <p:sp>
        <p:nvSpPr>
          <p:cNvPr id="4" name="Text 2"/>
          <p:cNvSpPr/>
          <p:nvPr/>
        </p:nvSpPr>
        <p:spPr>
          <a:xfrm>
            <a:off x="793790" y="3077051"/>
            <a:ext cx="8691920" cy="362903"/>
          </a:xfrm>
          <a:prstGeom prst="rect">
            <a:avLst/>
          </a:prstGeom>
          <a:noFill/>
          <a:ln/>
        </p:spPr>
        <p:txBody>
          <a:bodyPr wrap="none" lIns="0" tIns="0" rIns="0" bIns="0" rtlCol="0" anchor="t"/>
          <a:lstStyle/>
          <a:p>
            <a:pPr algn="l" indent="0" marL="0">
              <a:lnSpc>
                <a:spcPts val="2850"/>
              </a:lnSpc>
              <a:buNone/>
            </a:pPr>
            <a:r>
              <a:rPr lang="en-US" sz="1750" dirty="0">
                <a:solidFill>
                  <a:srgbClr val="272525"/>
                </a:solidFill>
                <a:latin typeface="Inter" pitchFamily="34" charset="0"/>
                <a:ea typeface="Inter" pitchFamily="34" charset="-122"/>
                <a:cs typeface="Inter" pitchFamily="34" charset="-120"/>
              </a:rPr>
              <a:t>He dedicated a minimum of </a:t>
            </a:r>
            <a:pPr algn="l" indent="0" marL="0">
              <a:lnSpc>
                <a:spcPts val="2850"/>
              </a:lnSpc>
              <a:buNone/>
            </a:pPr>
            <a:r>
              <a:rPr lang="en-US" sz="1750" b="1" dirty="0">
                <a:solidFill>
                  <a:srgbClr val="272525"/>
                </a:solidFill>
                <a:latin typeface="Inter" pitchFamily="34" charset="0"/>
                <a:ea typeface="Inter" pitchFamily="34" charset="-122"/>
                <a:cs typeface="Inter" pitchFamily="34" charset="-120"/>
              </a:rPr>
              <a:t>30 hours</a:t>
            </a:r>
            <a:pPr algn="l" indent="0" marL="0">
              <a:lnSpc>
                <a:spcPts val="2850"/>
              </a:lnSpc>
              <a:buNone/>
            </a:pPr>
            <a:r>
              <a:rPr lang="en-US" sz="1750" dirty="0">
                <a:solidFill>
                  <a:srgbClr val="272525"/>
                </a:solidFill>
                <a:latin typeface="Inter" pitchFamily="34" charset="0"/>
                <a:ea typeface="Inter" pitchFamily="34" charset="-122"/>
                <a:cs typeface="Inter" pitchFamily="34" charset="-120"/>
              </a:rPr>
              <a:t> to this project, significantly contributing to:</a:t>
            </a:r>
            <a:endParaRPr lang="en-US" sz="1750" dirty="0"/>
          </a:p>
        </p:txBody>
      </p:sp>
      <p:sp>
        <p:nvSpPr>
          <p:cNvPr id="5" name="Text 3"/>
          <p:cNvSpPr/>
          <p:nvPr/>
        </p:nvSpPr>
        <p:spPr>
          <a:xfrm>
            <a:off x="793790" y="3644027"/>
            <a:ext cx="8691920" cy="36290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272525"/>
                </a:solidFill>
                <a:latin typeface="Inter" pitchFamily="34" charset="0"/>
                <a:ea typeface="Inter" pitchFamily="34" charset="-122"/>
                <a:cs typeface="Inter" pitchFamily="34" charset="-120"/>
              </a:rPr>
              <a:t>Educating community members on crucial digital safety practices.</a:t>
            </a:r>
            <a:endParaRPr lang="en-US" sz="1750" dirty="0"/>
          </a:p>
        </p:txBody>
      </p:sp>
      <p:sp>
        <p:nvSpPr>
          <p:cNvPr id="6" name="Text 4"/>
          <p:cNvSpPr/>
          <p:nvPr/>
        </p:nvSpPr>
        <p:spPr>
          <a:xfrm>
            <a:off x="793790" y="4086225"/>
            <a:ext cx="8691920" cy="36290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272525"/>
                </a:solidFill>
                <a:latin typeface="Inter" pitchFamily="34" charset="0"/>
                <a:ea typeface="Inter" pitchFamily="34" charset="-122"/>
                <a:cs typeface="Inter" pitchFamily="34" charset="-120"/>
              </a:rPr>
              <a:t>Improving awareness regarding cyber threats across various age groups.</a:t>
            </a:r>
            <a:endParaRPr lang="en-US" sz="1750" dirty="0"/>
          </a:p>
        </p:txBody>
      </p:sp>
      <p:sp>
        <p:nvSpPr>
          <p:cNvPr id="7" name="Text 5"/>
          <p:cNvSpPr/>
          <p:nvPr/>
        </p:nvSpPr>
        <p:spPr>
          <a:xfrm>
            <a:off x="793790" y="4528423"/>
            <a:ext cx="8691920" cy="36290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272525"/>
                </a:solidFill>
                <a:latin typeface="Inter" pitchFamily="34" charset="0"/>
                <a:ea typeface="Inter" pitchFamily="34" charset="-122"/>
                <a:cs typeface="Inter" pitchFamily="34" charset="-120"/>
              </a:rPr>
              <a:t>Promoting responsible online behavior within the community.</a:t>
            </a:r>
            <a:endParaRPr lang="en-US" sz="1750" dirty="0"/>
          </a:p>
        </p:txBody>
      </p:sp>
      <p:pic>
        <p:nvPicPr>
          <p:cNvPr id="8" name="Image 0" descr="preencoded.png">    </p:cNvPr>
          <p:cNvPicPr>
            <a:picLocks noChangeAspect="1"/>
          </p:cNvPicPr>
          <p:nvPr/>
        </p:nvPicPr>
        <p:blipFill>
          <a:blip r:embed="rId1"/>
          <a:stretch>
            <a:fillRect/>
          </a:stretch>
        </p:blipFill>
        <p:spPr>
          <a:xfrm>
            <a:off x="10046732" y="2198251"/>
            <a:ext cx="3793807" cy="488192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1591508"/>
            <a:ext cx="6338530" cy="566976"/>
          </a:xfrm>
          <a:prstGeom prst="rect">
            <a:avLst/>
          </a:prstGeom>
          <a:noFill/>
          <a:ln/>
        </p:spPr>
        <p:txBody>
          <a:bodyPr wrap="none" lIns="0" tIns="0" rIns="0" bIns="0" rtlCol="0" anchor="t"/>
          <a:lstStyle/>
          <a:p>
            <a:pPr algn="l" indent="0" marL="0">
              <a:lnSpc>
                <a:spcPts val="4450"/>
              </a:lnSpc>
              <a:buNone/>
            </a:pPr>
            <a:r>
              <a:rPr lang="en-US" sz="3550" b="1" dirty="0">
                <a:solidFill>
                  <a:srgbClr val="000000"/>
                </a:solidFill>
                <a:latin typeface="Inter Bold" pitchFamily="34" charset="0"/>
                <a:ea typeface="Inter Bold" pitchFamily="34" charset="-122"/>
                <a:cs typeface="Inter Bold" pitchFamily="34" charset="-120"/>
              </a:rPr>
              <a:t>Introduction to Digital Safety</a:t>
            </a:r>
            <a:endParaRPr lang="en-US" sz="3550" dirty="0"/>
          </a:p>
        </p:txBody>
      </p:sp>
      <p:sp>
        <p:nvSpPr>
          <p:cNvPr id="4" name="Text 1"/>
          <p:cNvSpPr/>
          <p:nvPr/>
        </p:nvSpPr>
        <p:spPr>
          <a:xfrm>
            <a:off x="793790" y="2498646"/>
            <a:ext cx="7556421" cy="1088708"/>
          </a:xfrm>
          <a:prstGeom prst="rect">
            <a:avLst/>
          </a:prstGeom>
          <a:noFill/>
          <a:ln/>
        </p:spPr>
        <p:txBody>
          <a:bodyPr wrap="square" lIns="0" tIns="0" rIns="0" bIns="0" rtlCol="0" anchor="t"/>
          <a:lstStyle/>
          <a:p>
            <a:pPr algn="l" indent="0" marL="0">
              <a:lnSpc>
                <a:spcPts val="2850"/>
              </a:lnSpc>
              <a:buNone/>
            </a:pPr>
            <a:r>
              <a:rPr lang="en-US" sz="1750" dirty="0">
                <a:solidFill>
                  <a:srgbClr val="272525"/>
                </a:solidFill>
                <a:latin typeface="Inter" pitchFamily="34" charset="0"/>
                <a:ea typeface="Inter" pitchFamily="34" charset="-122"/>
                <a:cs typeface="Inter" pitchFamily="34" charset="-120"/>
              </a:rPr>
              <a:t>Cyber Security is vital for protecting individuals and organizations from these threats. This project facilitated an interactive session for students, focusing on safe and responsible technology use.</a:t>
            </a:r>
            <a:endParaRPr lang="en-US" sz="1750" dirty="0"/>
          </a:p>
        </p:txBody>
      </p:sp>
      <p:sp>
        <p:nvSpPr>
          <p:cNvPr id="5" name="Text 2"/>
          <p:cNvSpPr/>
          <p:nvPr/>
        </p:nvSpPr>
        <p:spPr>
          <a:xfrm>
            <a:off x="793790" y="3842504"/>
            <a:ext cx="7556421" cy="1088708"/>
          </a:xfrm>
          <a:prstGeom prst="rect">
            <a:avLst/>
          </a:prstGeom>
          <a:noFill/>
          <a:ln/>
        </p:spPr>
        <p:txBody>
          <a:bodyPr wrap="square" lIns="0" tIns="0" rIns="0" bIns="0" rtlCol="0" anchor="t"/>
          <a:lstStyle/>
          <a:p>
            <a:pPr algn="l" indent="0" marL="0">
              <a:lnSpc>
                <a:spcPts val="2850"/>
              </a:lnSpc>
              <a:buNone/>
            </a:pPr>
            <a:r>
              <a:rPr lang="en-US" sz="1750" dirty="0">
                <a:solidFill>
                  <a:srgbClr val="272525"/>
                </a:solidFill>
                <a:latin typeface="Inter" pitchFamily="34" charset="0"/>
                <a:ea typeface="Inter" pitchFamily="34" charset="-122"/>
                <a:cs typeface="Inter" pitchFamily="34" charset="-120"/>
              </a:rPr>
              <a:t>The objective was to bridge the gap between theoretical knowledge and practical awareness of common cyber threats and preventive measures through real-life case studies and hands-on activities.</a:t>
            </a:r>
            <a:endParaRPr lang="en-US" sz="1750" dirty="0"/>
          </a:p>
        </p:txBody>
      </p:sp>
      <p:sp>
        <p:nvSpPr>
          <p:cNvPr id="6" name="Text 3"/>
          <p:cNvSpPr/>
          <p:nvPr/>
        </p:nvSpPr>
        <p:spPr>
          <a:xfrm>
            <a:off x="793790" y="5186363"/>
            <a:ext cx="7556421" cy="1451610"/>
          </a:xfrm>
          <a:prstGeom prst="rect">
            <a:avLst/>
          </a:prstGeom>
          <a:noFill/>
          <a:ln/>
        </p:spPr>
        <p:txBody>
          <a:bodyPr wrap="square" lIns="0" tIns="0" rIns="0" bIns="0" rtlCol="0" anchor="t"/>
          <a:lstStyle/>
          <a:p>
            <a:pPr algn="l" indent="0" marL="0">
              <a:lnSpc>
                <a:spcPts val="2850"/>
              </a:lnSpc>
              <a:buNone/>
            </a:pPr>
            <a:r>
              <a:rPr lang="en-US" sz="1750" dirty="0">
                <a:solidFill>
                  <a:srgbClr val="272525"/>
                </a:solidFill>
                <a:latin typeface="Inter" pitchFamily="34" charset="0"/>
                <a:ea typeface="Inter" pitchFamily="34" charset="-122"/>
                <a:cs typeface="Inter" pitchFamily="34" charset="-120"/>
              </a:rPr>
              <a:t>The internet has become integral to our daily lives, connecting individuals, systems, and services globally. However, this connectivity brings significant risks such as hacking, phishing, identity theft, and data breaches.</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87956" y="620554"/>
            <a:ext cx="7568089" cy="1407319"/>
          </a:xfrm>
          <a:prstGeom prst="rect">
            <a:avLst/>
          </a:prstGeom>
          <a:noFill/>
          <a:ln/>
        </p:spPr>
        <p:txBody>
          <a:bodyPr wrap="square" lIns="0" tIns="0" rIns="0" bIns="0" rtlCol="0" anchor="t"/>
          <a:lstStyle/>
          <a:p>
            <a:pPr algn="l" indent="0" marL="0">
              <a:lnSpc>
                <a:spcPts val="5500"/>
              </a:lnSpc>
              <a:buNone/>
            </a:pPr>
            <a:r>
              <a:rPr lang="en-US" sz="4400" b="1" dirty="0">
                <a:solidFill>
                  <a:srgbClr val="000000"/>
                </a:solidFill>
                <a:latin typeface="Inter Bold" pitchFamily="34" charset="0"/>
                <a:ea typeface="Inter Bold" pitchFamily="34" charset="-122"/>
                <a:cs typeface="Inter Bold" pitchFamily="34" charset="-120"/>
              </a:rPr>
              <a:t>Problem Identification: Vulnerable Digital Citizens</a:t>
            </a:r>
            <a:endParaRPr lang="en-US" sz="4400" dirty="0"/>
          </a:p>
        </p:txBody>
      </p:sp>
      <p:sp>
        <p:nvSpPr>
          <p:cNvPr id="4" name="Shape 1"/>
          <p:cNvSpPr/>
          <p:nvPr/>
        </p:nvSpPr>
        <p:spPr>
          <a:xfrm>
            <a:off x="787956" y="2365534"/>
            <a:ext cx="7568089" cy="2509123"/>
          </a:xfrm>
          <a:prstGeom prst="roundRect">
            <a:avLst>
              <a:gd name="adj" fmla="val 5831"/>
            </a:avLst>
          </a:prstGeom>
          <a:solidFill>
            <a:srgbClr val="FFFFFF"/>
          </a:solidFill>
          <a:ln w="30480">
            <a:solidFill>
              <a:srgbClr val="C0C1D7"/>
            </a:solidFill>
            <a:prstDash val="solid"/>
          </a:ln>
        </p:spPr>
      </p:sp>
      <p:sp>
        <p:nvSpPr>
          <p:cNvPr id="5" name="Shape 2"/>
          <p:cNvSpPr/>
          <p:nvPr/>
        </p:nvSpPr>
        <p:spPr>
          <a:xfrm>
            <a:off x="757476" y="2365534"/>
            <a:ext cx="121920" cy="2509123"/>
          </a:xfrm>
          <a:prstGeom prst="roundRect">
            <a:avLst>
              <a:gd name="adj" fmla="val 77565"/>
            </a:avLst>
          </a:prstGeom>
          <a:solidFill>
            <a:srgbClr val="4950BC"/>
          </a:solidFill>
          <a:ln/>
        </p:spPr>
      </p:sp>
      <p:sp>
        <p:nvSpPr>
          <p:cNvPr id="6" name="Text 3"/>
          <p:cNvSpPr/>
          <p:nvPr/>
        </p:nvSpPr>
        <p:spPr>
          <a:xfrm>
            <a:off x="1135023" y="2621161"/>
            <a:ext cx="3377327" cy="422196"/>
          </a:xfrm>
          <a:prstGeom prst="rect">
            <a:avLst/>
          </a:prstGeom>
          <a:noFill/>
          <a:ln/>
        </p:spPr>
        <p:txBody>
          <a:bodyPr wrap="none" lIns="0" tIns="0" rIns="0" bIns="0" rtlCol="0" anchor="t"/>
          <a:lstStyle/>
          <a:p>
            <a:pPr algn="l" indent="0" marL="0">
              <a:lnSpc>
                <a:spcPts val="3300"/>
              </a:lnSpc>
              <a:buNone/>
            </a:pPr>
            <a:r>
              <a:rPr lang="en-US" sz="2650" b="1" dirty="0">
                <a:solidFill>
                  <a:srgbClr val="272525"/>
                </a:solidFill>
                <a:latin typeface="Inter Bold" pitchFamily="34" charset="0"/>
                <a:ea typeface="Inter Bold" pitchFamily="34" charset="-122"/>
                <a:cs typeface="Inter Bold" pitchFamily="34" charset="-120"/>
              </a:rPr>
              <a:t>Problem</a:t>
            </a:r>
            <a:endParaRPr lang="en-US" sz="2650" dirty="0"/>
          </a:p>
        </p:txBody>
      </p:sp>
      <p:sp>
        <p:nvSpPr>
          <p:cNvPr id="7" name="Text 4"/>
          <p:cNvSpPr/>
          <p:nvPr/>
        </p:nvSpPr>
        <p:spPr>
          <a:xfrm>
            <a:off x="1135023" y="3178373"/>
            <a:ext cx="6965394" cy="1440656"/>
          </a:xfrm>
          <a:prstGeom prst="rect">
            <a:avLst/>
          </a:prstGeom>
          <a:noFill/>
          <a:ln/>
        </p:spPr>
        <p:txBody>
          <a:bodyPr wrap="square" lIns="0" tIns="0" rIns="0" bIns="0" rtlCol="0" anchor="t"/>
          <a:lstStyle/>
          <a:p>
            <a:pPr algn="l" indent="0" marL="0">
              <a:lnSpc>
                <a:spcPts val="2800"/>
              </a:lnSpc>
              <a:buNone/>
            </a:pPr>
            <a:r>
              <a:rPr lang="en-US" sz="1750" dirty="0">
                <a:solidFill>
                  <a:srgbClr val="272525"/>
                </a:solidFill>
                <a:latin typeface="Inter" pitchFamily="34" charset="0"/>
                <a:ea typeface="Inter" pitchFamily="34" charset="-122"/>
                <a:cs typeface="Inter" pitchFamily="34" charset="-120"/>
              </a:rPr>
              <a:t>Many students extensively use the internet but lack awareness of cyber threats and safe online behaviors, making them susceptible to scams, phishing, identity theft, and privacy violations.</a:t>
            </a:r>
            <a:endParaRPr lang="en-US" sz="1750" dirty="0"/>
          </a:p>
        </p:txBody>
      </p:sp>
      <p:sp>
        <p:nvSpPr>
          <p:cNvPr id="8" name="Shape 5"/>
          <p:cNvSpPr/>
          <p:nvPr/>
        </p:nvSpPr>
        <p:spPr>
          <a:xfrm>
            <a:off x="787956" y="5099804"/>
            <a:ext cx="7568089" cy="2509123"/>
          </a:xfrm>
          <a:prstGeom prst="roundRect">
            <a:avLst>
              <a:gd name="adj" fmla="val 5831"/>
            </a:avLst>
          </a:prstGeom>
          <a:solidFill>
            <a:srgbClr val="FFFFFF"/>
          </a:solidFill>
          <a:ln w="30480">
            <a:solidFill>
              <a:srgbClr val="C0C1D7"/>
            </a:solidFill>
            <a:prstDash val="solid"/>
          </a:ln>
        </p:spPr>
      </p:sp>
      <p:sp>
        <p:nvSpPr>
          <p:cNvPr id="9" name="Shape 6"/>
          <p:cNvSpPr/>
          <p:nvPr/>
        </p:nvSpPr>
        <p:spPr>
          <a:xfrm>
            <a:off x="757476" y="5099804"/>
            <a:ext cx="121920" cy="2509123"/>
          </a:xfrm>
          <a:prstGeom prst="roundRect">
            <a:avLst>
              <a:gd name="adj" fmla="val 77565"/>
            </a:avLst>
          </a:prstGeom>
          <a:solidFill>
            <a:srgbClr val="4950BC"/>
          </a:solidFill>
          <a:ln/>
        </p:spPr>
      </p:sp>
      <p:sp>
        <p:nvSpPr>
          <p:cNvPr id="10" name="Text 7"/>
          <p:cNvSpPr/>
          <p:nvPr/>
        </p:nvSpPr>
        <p:spPr>
          <a:xfrm>
            <a:off x="1135023" y="5355431"/>
            <a:ext cx="3377327" cy="422196"/>
          </a:xfrm>
          <a:prstGeom prst="rect">
            <a:avLst/>
          </a:prstGeom>
          <a:noFill/>
          <a:ln/>
        </p:spPr>
        <p:txBody>
          <a:bodyPr wrap="none" lIns="0" tIns="0" rIns="0" bIns="0" rtlCol="0" anchor="t"/>
          <a:lstStyle/>
          <a:p>
            <a:pPr algn="l" indent="0" marL="0">
              <a:lnSpc>
                <a:spcPts val="3300"/>
              </a:lnSpc>
              <a:buNone/>
            </a:pPr>
            <a:r>
              <a:rPr lang="en-US" sz="2650" b="1" dirty="0">
                <a:solidFill>
                  <a:srgbClr val="272525"/>
                </a:solidFill>
                <a:latin typeface="Inter Bold" pitchFamily="34" charset="0"/>
                <a:ea typeface="Inter Bold" pitchFamily="34" charset="-122"/>
                <a:cs typeface="Inter Bold" pitchFamily="34" charset="-120"/>
              </a:rPr>
              <a:t>Cause</a:t>
            </a:r>
            <a:endParaRPr lang="en-US" sz="2650" dirty="0"/>
          </a:p>
        </p:txBody>
      </p:sp>
      <p:sp>
        <p:nvSpPr>
          <p:cNvPr id="11" name="Text 8"/>
          <p:cNvSpPr/>
          <p:nvPr/>
        </p:nvSpPr>
        <p:spPr>
          <a:xfrm>
            <a:off x="1135023" y="5912644"/>
            <a:ext cx="6965394" cy="1440656"/>
          </a:xfrm>
          <a:prstGeom prst="rect">
            <a:avLst/>
          </a:prstGeom>
          <a:noFill/>
          <a:ln/>
        </p:spPr>
        <p:txBody>
          <a:bodyPr wrap="square" lIns="0" tIns="0" rIns="0" bIns="0" rtlCol="0" anchor="t"/>
          <a:lstStyle/>
          <a:p>
            <a:pPr algn="l" indent="0" marL="0">
              <a:lnSpc>
                <a:spcPts val="2800"/>
              </a:lnSpc>
              <a:buNone/>
            </a:pPr>
            <a:r>
              <a:rPr lang="en-US" sz="1750" dirty="0">
                <a:solidFill>
                  <a:srgbClr val="272525"/>
                </a:solidFill>
                <a:latin typeface="Inter" pitchFamily="34" charset="0"/>
                <a:ea typeface="Inter" pitchFamily="34" charset="-122"/>
                <a:cs typeface="Inter" pitchFamily="34" charset="-120"/>
              </a:rPr>
              <a:t>The primary cause is inadequate practical cybersecurity education in schools. Without proper training, students often use weak passwords, overshare personal information, and neglect digital hygiene, increasing their vulnerability to cybercrimes.</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747474"/>
            <a:ext cx="8091249" cy="566976"/>
          </a:xfrm>
          <a:prstGeom prst="rect">
            <a:avLst/>
          </a:prstGeom>
          <a:noFill/>
          <a:ln/>
        </p:spPr>
        <p:txBody>
          <a:bodyPr wrap="none" lIns="0" tIns="0" rIns="0" bIns="0" rtlCol="0" anchor="t"/>
          <a:lstStyle/>
          <a:p>
            <a:pPr algn="l" indent="0" marL="0">
              <a:lnSpc>
                <a:spcPts val="4450"/>
              </a:lnSpc>
              <a:buNone/>
            </a:pPr>
            <a:r>
              <a:rPr lang="en-US" sz="3550" b="1" dirty="0">
                <a:solidFill>
                  <a:srgbClr val="000000"/>
                </a:solidFill>
                <a:latin typeface="Inter Bold" pitchFamily="34" charset="0"/>
                <a:ea typeface="Inter Bold" pitchFamily="34" charset="-122"/>
                <a:cs typeface="Inter Bold" pitchFamily="34" charset="-120"/>
              </a:rPr>
              <a:t>Key Objectives for Cyber Awareness</a:t>
            </a:r>
            <a:endParaRPr lang="en-US" sz="3550" dirty="0"/>
          </a:p>
        </p:txBody>
      </p:sp>
      <p:sp>
        <p:nvSpPr>
          <p:cNvPr id="3" name="Shape 1"/>
          <p:cNvSpPr/>
          <p:nvPr/>
        </p:nvSpPr>
        <p:spPr>
          <a:xfrm>
            <a:off x="793790" y="2108240"/>
            <a:ext cx="6407944" cy="2403396"/>
          </a:xfrm>
          <a:prstGeom prst="roundRect">
            <a:avLst>
              <a:gd name="adj" fmla="val 6087"/>
            </a:avLst>
          </a:prstGeom>
          <a:solidFill>
            <a:srgbClr val="FFFFFF"/>
          </a:solidFill>
          <a:ln/>
        </p:spPr>
      </p:sp>
      <p:sp>
        <p:nvSpPr>
          <p:cNvPr id="4" name="Shape 2"/>
          <p:cNvSpPr/>
          <p:nvPr/>
        </p:nvSpPr>
        <p:spPr>
          <a:xfrm>
            <a:off x="793790" y="2077760"/>
            <a:ext cx="6407944" cy="121920"/>
          </a:xfrm>
          <a:prstGeom prst="roundRect">
            <a:avLst>
              <a:gd name="adj" fmla="val 78139"/>
            </a:avLst>
          </a:prstGeom>
          <a:solidFill>
            <a:srgbClr val="4950BC"/>
          </a:solidFill>
          <a:ln/>
        </p:spPr>
      </p:sp>
      <p:sp>
        <p:nvSpPr>
          <p:cNvPr id="5" name="Shape 3"/>
          <p:cNvSpPr/>
          <p:nvPr/>
        </p:nvSpPr>
        <p:spPr>
          <a:xfrm>
            <a:off x="3657540" y="1768078"/>
            <a:ext cx="680442" cy="680442"/>
          </a:xfrm>
          <a:prstGeom prst="roundRect">
            <a:avLst>
              <a:gd name="adj" fmla="val 134383"/>
            </a:avLst>
          </a:prstGeom>
          <a:solidFill>
            <a:srgbClr val="4950BC"/>
          </a:solidFill>
          <a:ln/>
        </p:spPr>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861614" y="1972151"/>
            <a:ext cx="272177" cy="272177"/>
          </a:xfrm>
          <a:prstGeom prst="rect">
            <a:avLst/>
          </a:prstGeom>
        </p:spPr>
      </p:pic>
      <p:sp>
        <p:nvSpPr>
          <p:cNvPr id="7" name="Text 4"/>
          <p:cNvSpPr/>
          <p:nvPr/>
        </p:nvSpPr>
        <p:spPr>
          <a:xfrm>
            <a:off x="1051084" y="2675215"/>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272525"/>
                </a:solidFill>
                <a:latin typeface="Inter Bold" pitchFamily="34" charset="0"/>
                <a:ea typeface="Inter Bold" pitchFamily="34" charset="-122"/>
                <a:cs typeface="Inter Bold" pitchFamily="34" charset="-120"/>
              </a:rPr>
              <a:t>Empowerment</a:t>
            </a:r>
            <a:endParaRPr lang="en-US" sz="2200" dirty="0"/>
          </a:p>
        </p:txBody>
      </p:sp>
      <p:sp>
        <p:nvSpPr>
          <p:cNvPr id="8" name="Text 5"/>
          <p:cNvSpPr/>
          <p:nvPr/>
        </p:nvSpPr>
        <p:spPr>
          <a:xfrm>
            <a:off x="1051084" y="3165634"/>
            <a:ext cx="5893356" cy="725805"/>
          </a:xfrm>
          <a:prstGeom prst="rect">
            <a:avLst/>
          </a:prstGeom>
          <a:noFill/>
          <a:ln/>
        </p:spPr>
        <p:txBody>
          <a:bodyPr wrap="square" lIns="0" tIns="0" rIns="0" bIns="0" rtlCol="0" anchor="t"/>
          <a:lstStyle/>
          <a:p>
            <a:pPr algn="l" indent="0" marL="0">
              <a:lnSpc>
                <a:spcPts val="2850"/>
              </a:lnSpc>
              <a:buNone/>
            </a:pPr>
            <a:r>
              <a:rPr lang="en-US" sz="1750" dirty="0">
                <a:solidFill>
                  <a:srgbClr val="272525"/>
                </a:solidFill>
                <a:latin typeface="Inter" pitchFamily="34" charset="0"/>
                <a:ea typeface="Inter" pitchFamily="34" charset="-122"/>
                <a:cs typeface="Inter" pitchFamily="34" charset="-120"/>
              </a:rPr>
              <a:t>Provide students with crucial knowledge and practical skills for self-protection in the digital realm.</a:t>
            </a:r>
            <a:endParaRPr lang="en-US" sz="1750" dirty="0"/>
          </a:p>
        </p:txBody>
      </p:sp>
      <p:sp>
        <p:nvSpPr>
          <p:cNvPr id="9" name="Shape 6"/>
          <p:cNvSpPr/>
          <p:nvPr/>
        </p:nvSpPr>
        <p:spPr>
          <a:xfrm>
            <a:off x="7428548" y="2108240"/>
            <a:ext cx="6408063" cy="2403396"/>
          </a:xfrm>
          <a:prstGeom prst="roundRect">
            <a:avLst>
              <a:gd name="adj" fmla="val 6087"/>
            </a:avLst>
          </a:prstGeom>
          <a:solidFill>
            <a:srgbClr val="FFFFFF"/>
          </a:solidFill>
          <a:ln/>
        </p:spPr>
      </p:sp>
      <p:sp>
        <p:nvSpPr>
          <p:cNvPr id="10" name="Shape 7"/>
          <p:cNvSpPr/>
          <p:nvPr/>
        </p:nvSpPr>
        <p:spPr>
          <a:xfrm>
            <a:off x="7428548" y="2077760"/>
            <a:ext cx="6408063" cy="121920"/>
          </a:xfrm>
          <a:prstGeom prst="roundRect">
            <a:avLst>
              <a:gd name="adj" fmla="val 78139"/>
            </a:avLst>
          </a:prstGeom>
          <a:solidFill>
            <a:srgbClr val="4950BC"/>
          </a:solidFill>
          <a:ln/>
        </p:spPr>
      </p:sp>
      <p:sp>
        <p:nvSpPr>
          <p:cNvPr id="11" name="Shape 8"/>
          <p:cNvSpPr/>
          <p:nvPr/>
        </p:nvSpPr>
        <p:spPr>
          <a:xfrm>
            <a:off x="10292298" y="1768078"/>
            <a:ext cx="680442" cy="680442"/>
          </a:xfrm>
          <a:prstGeom prst="roundRect">
            <a:avLst>
              <a:gd name="adj" fmla="val 134383"/>
            </a:avLst>
          </a:prstGeom>
          <a:solidFill>
            <a:srgbClr val="4950BC"/>
          </a:solidFill>
          <a:ln/>
        </p:spPr>
      </p:sp>
      <p:pic>
        <p:nvPicPr>
          <p:cNvPr id="1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496371" y="1972151"/>
            <a:ext cx="272177" cy="272177"/>
          </a:xfrm>
          <a:prstGeom prst="rect">
            <a:avLst/>
          </a:prstGeom>
        </p:spPr>
      </p:pic>
      <p:sp>
        <p:nvSpPr>
          <p:cNvPr id="13" name="Text 9"/>
          <p:cNvSpPr/>
          <p:nvPr/>
        </p:nvSpPr>
        <p:spPr>
          <a:xfrm>
            <a:off x="7685842" y="2675215"/>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272525"/>
                </a:solidFill>
                <a:latin typeface="Inter Bold" pitchFamily="34" charset="0"/>
                <a:ea typeface="Inter Bold" pitchFamily="34" charset="-122"/>
                <a:cs typeface="Inter Bold" pitchFamily="34" charset="-120"/>
              </a:rPr>
              <a:t>Threat Recognition</a:t>
            </a:r>
            <a:endParaRPr lang="en-US" sz="2200" dirty="0"/>
          </a:p>
        </p:txBody>
      </p:sp>
      <p:sp>
        <p:nvSpPr>
          <p:cNvPr id="14" name="Text 10"/>
          <p:cNvSpPr/>
          <p:nvPr/>
        </p:nvSpPr>
        <p:spPr>
          <a:xfrm>
            <a:off x="7685842" y="3165634"/>
            <a:ext cx="5893475" cy="1088708"/>
          </a:xfrm>
          <a:prstGeom prst="rect">
            <a:avLst/>
          </a:prstGeom>
          <a:noFill/>
          <a:ln/>
        </p:spPr>
        <p:txBody>
          <a:bodyPr wrap="square" lIns="0" tIns="0" rIns="0" bIns="0" rtlCol="0" anchor="t"/>
          <a:lstStyle/>
          <a:p>
            <a:pPr algn="l" indent="0" marL="0">
              <a:lnSpc>
                <a:spcPts val="2850"/>
              </a:lnSpc>
              <a:buNone/>
            </a:pPr>
            <a:r>
              <a:rPr lang="en-US" sz="1750" dirty="0">
                <a:solidFill>
                  <a:srgbClr val="272525"/>
                </a:solidFill>
                <a:latin typeface="Inter" pitchFamily="34" charset="0"/>
                <a:ea typeface="Inter" pitchFamily="34" charset="-122"/>
                <a:cs typeface="Inter" pitchFamily="34" charset="-120"/>
              </a:rPr>
              <a:t>Raise awareness about prevalent cyber threats like phishing, malware, identity theft, and social engineering, along with effective prevention strategies.</a:t>
            </a:r>
            <a:endParaRPr lang="en-US" sz="1750" dirty="0"/>
          </a:p>
        </p:txBody>
      </p:sp>
      <p:sp>
        <p:nvSpPr>
          <p:cNvPr id="15" name="Shape 11"/>
          <p:cNvSpPr/>
          <p:nvPr/>
        </p:nvSpPr>
        <p:spPr>
          <a:xfrm>
            <a:off x="793790" y="5078611"/>
            <a:ext cx="6407944" cy="2403396"/>
          </a:xfrm>
          <a:prstGeom prst="roundRect">
            <a:avLst>
              <a:gd name="adj" fmla="val 6087"/>
            </a:avLst>
          </a:prstGeom>
          <a:solidFill>
            <a:srgbClr val="FFFFFF"/>
          </a:solidFill>
          <a:ln/>
        </p:spPr>
      </p:sp>
      <p:sp>
        <p:nvSpPr>
          <p:cNvPr id="16" name="Shape 12"/>
          <p:cNvSpPr/>
          <p:nvPr/>
        </p:nvSpPr>
        <p:spPr>
          <a:xfrm>
            <a:off x="793790" y="5048131"/>
            <a:ext cx="6407944" cy="121920"/>
          </a:xfrm>
          <a:prstGeom prst="roundRect">
            <a:avLst>
              <a:gd name="adj" fmla="val 78139"/>
            </a:avLst>
          </a:prstGeom>
          <a:solidFill>
            <a:srgbClr val="4950BC"/>
          </a:solidFill>
          <a:ln/>
        </p:spPr>
      </p:sp>
      <p:sp>
        <p:nvSpPr>
          <p:cNvPr id="17" name="Shape 13"/>
          <p:cNvSpPr/>
          <p:nvPr/>
        </p:nvSpPr>
        <p:spPr>
          <a:xfrm>
            <a:off x="3657540" y="4738449"/>
            <a:ext cx="680442" cy="680442"/>
          </a:xfrm>
          <a:prstGeom prst="roundRect">
            <a:avLst>
              <a:gd name="adj" fmla="val 134383"/>
            </a:avLst>
          </a:prstGeom>
          <a:solidFill>
            <a:srgbClr val="4950BC"/>
          </a:solidFill>
          <a:ln/>
        </p:spPr>
      </p:sp>
      <p:pic>
        <p:nvPicPr>
          <p:cNvPr id="18"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861614" y="4942523"/>
            <a:ext cx="272177" cy="272177"/>
          </a:xfrm>
          <a:prstGeom prst="rect">
            <a:avLst/>
          </a:prstGeom>
        </p:spPr>
      </p:pic>
      <p:sp>
        <p:nvSpPr>
          <p:cNvPr id="19" name="Text 14"/>
          <p:cNvSpPr/>
          <p:nvPr/>
        </p:nvSpPr>
        <p:spPr>
          <a:xfrm>
            <a:off x="1051084" y="5645587"/>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272525"/>
                </a:solidFill>
                <a:latin typeface="Inter Bold" pitchFamily="34" charset="0"/>
                <a:ea typeface="Inter Bold" pitchFamily="34" charset="-122"/>
                <a:cs typeface="Inter Bold" pitchFamily="34" charset="-120"/>
              </a:rPr>
              <a:t>Safe Practices</a:t>
            </a:r>
            <a:endParaRPr lang="en-US" sz="2200" dirty="0"/>
          </a:p>
        </p:txBody>
      </p:sp>
      <p:sp>
        <p:nvSpPr>
          <p:cNvPr id="20" name="Text 15"/>
          <p:cNvSpPr/>
          <p:nvPr/>
        </p:nvSpPr>
        <p:spPr>
          <a:xfrm>
            <a:off x="1051084" y="6136005"/>
            <a:ext cx="5893356" cy="1088708"/>
          </a:xfrm>
          <a:prstGeom prst="rect">
            <a:avLst/>
          </a:prstGeom>
          <a:noFill/>
          <a:ln/>
        </p:spPr>
        <p:txBody>
          <a:bodyPr wrap="square" lIns="0" tIns="0" rIns="0" bIns="0" rtlCol="0" anchor="t"/>
          <a:lstStyle/>
          <a:p>
            <a:pPr algn="l" indent="0" marL="0">
              <a:lnSpc>
                <a:spcPts val="2850"/>
              </a:lnSpc>
              <a:buNone/>
            </a:pPr>
            <a:r>
              <a:rPr lang="en-US" sz="1750" dirty="0">
                <a:solidFill>
                  <a:srgbClr val="272525"/>
                </a:solidFill>
                <a:latin typeface="Inter" pitchFamily="34" charset="0"/>
                <a:ea typeface="Inter" pitchFamily="34" charset="-122"/>
                <a:cs typeface="Inter" pitchFamily="34" charset="-120"/>
              </a:rPr>
              <a:t>Emphasize strong passwords, two-factor authentication, secure browsing, and responsible social media use.</a:t>
            </a:r>
            <a:endParaRPr lang="en-US" sz="1750" dirty="0"/>
          </a:p>
        </p:txBody>
      </p:sp>
      <p:sp>
        <p:nvSpPr>
          <p:cNvPr id="21" name="Shape 16"/>
          <p:cNvSpPr/>
          <p:nvPr/>
        </p:nvSpPr>
        <p:spPr>
          <a:xfrm>
            <a:off x="7428548" y="5078611"/>
            <a:ext cx="6408063" cy="2403396"/>
          </a:xfrm>
          <a:prstGeom prst="roundRect">
            <a:avLst>
              <a:gd name="adj" fmla="val 6087"/>
            </a:avLst>
          </a:prstGeom>
          <a:solidFill>
            <a:srgbClr val="FFFFFF"/>
          </a:solidFill>
          <a:ln/>
        </p:spPr>
      </p:sp>
      <p:sp>
        <p:nvSpPr>
          <p:cNvPr id="22" name="Shape 17"/>
          <p:cNvSpPr/>
          <p:nvPr/>
        </p:nvSpPr>
        <p:spPr>
          <a:xfrm>
            <a:off x="7428548" y="5048131"/>
            <a:ext cx="6408063" cy="121920"/>
          </a:xfrm>
          <a:prstGeom prst="roundRect">
            <a:avLst>
              <a:gd name="adj" fmla="val 78139"/>
            </a:avLst>
          </a:prstGeom>
          <a:solidFill>
            <a:srgbClr val="4950BC"/>
          </a:solidFill>
          <a:ln/>
        </p:spPr>
      </p:sp>
      <p:sp>
        <p:nvSpPr>
          <p:cNvPr id="23" name="Shape 18"/>
          <p:cNvSpPr/>
          <p:nvPr/>
        </p:nvSpPr>
        <p:spPr>
          <a:xfrm>
            <a:off x="10292298" y="4738449"/>
            <a:ext cx="680442" cy="680442"/>
          </a:xfrm>
          <a:prstGeom prst="roundRect">
            <a:avLst>
              <a:gd name="adj" fmla="val 134383"/>
            </a:avLst>
          </a:prstGeom>
          <a:solidFill>
            <a:srgbClr val="4950BC"/>
          </a:solidFill>
          <a:ln/>
        </p:spPr>
      </p:sp>
      <p:pic>
        <p:nvPicPr>
          <p:cNvPr id="24"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496371" y="4942523"/>
            <a:ext cx="272177" cy="272177"/>
          </a:xfrm>
          <a:prstGeom prst="rect">
            <a:avLst/>
          </a:prstGeom>
        </p:spPr>
      </p:pic>
      <p:sp>
        <p:nvSpPr>
          <p:cNvPr id="25" name="Text 19"/>
          <p:cNvSpPr/>
          <p:nvPr/>
        </p:nvSpPr>
        <p:spPr>
          <a:xfrm>
            <a:off x="7685842" y="5645587"/>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272525"/>
                </a:solidFill>
                <a:latin typeface="Inter Bold" pitchFamily="34" charset="0"/>
                <a:ea typeface="Inter Bold" pitchFamily="34" charset="-122"/>
                <a:cs typeface="Inter Bold" pitchFamily="34" charset="-120"/>
              </a:rPr>
              <a:t>Hands-on Learning</a:t>
            </a:r>
            <a:endParaRPr lang="en-US" sz="2200" dirty="0"/>
          </a:p>
        </p:txBody>
      </p:sp>
      <p:sp>
        <p:nvSpPr>
          <p:cNvPr id="26" name="Text 20"/>
          <p:cNvSpPr/>
          <p:nvPr/>
        </p:nvSpPr>
        <p:spPr>
          <a:xfrm>
            <a:off x="7685842" y="6136005"/>
            <a:ext cx="5893475" cy="725805"/>
          </a:xfrm>
          <a:prstGeom prst="rect">
            <a:avLst/>
          </a:prstGeom>
          <a:noFill/>
          <a:ln/>
        </p:spPr>
        <p:txBody>
          <a:bodyPr wrap="square" lIns="0" tIns="0" rIns="0" bIns="0" rtlCol="0" anchor="t"/>
          <a:lstStyle/>
          <a:p>
            <a:pPr algn="l" indent="0" marL="0">
              <a:lnSpc>
                <a:spcPts val="2850"/>
              </a:lnSpc>
              <a:buNone/>
            </a:pPr>
            <a:r>
              <a:rPr lang="en-US" sz="1750" dirty="0">
                <a:solidFill>
                  <a:srgbClr val="272525"/>
                </a:solidFill>
                <a:latin typeface="Inter" pitchFamily="34" charset="0"/>
                <a:ea typeface="Inter" pitchFamily="34" charset="-122"/>
                <a:cs typeface="Inter" pitchFamily="34" charset="-120"/>
              </a:rPr>
              <a:t>Utilize interactive demonstrations to enhance engagement and retention of cyber safety concepts.</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872371"/>
            <a:ext cx="9849207" cy="510302"/>
          </a:xfrm>
          <a:prstGeom prst="rect">
            <a:avLst/>
          </a:prstGeom>
          <a:noFill/>
          <a:ln/>
        </p:spPr>
        <p:txBody>
          <a:bodyPr wrap="none" lIns="0" tIns="0" rIns="0" bIns="0" rtlCol="0" anchor="t"/>
          <a:lstStyle/>
          <a:p>
            <a:pPr algn="l" indent="0" marL="0">
              <a:lnSpc>
                <a:spcPts val="4000"/>
              </a:lnSpc>
              <a:buNone/>
            </a:pPr>
            <a:r>
              <a:rPr lang="en-US" sz="3200" b="1" dirty="0">
                <a:solidFill>
                  <a:srgbClr val="000000"/>
                </a:solidFill>
                <a:latin typeface="Inter Bold" pitchFamily="34" charset="0"/>
                <a:ea typeface="Inter Bold" pitchFamily="34" charset="-122"/>
                <a:cs typeface="Inter Bold" pitchFamily="34" charset="-120"/>
              </a:rPr>
              <a:t>Steps Taken: Building a Secure Digital Foundation</a:t>
            </a:r>
            <a:endParaRPr lang="en-US" sz="3200" dirty="0"/>
          </a:p>
        </p:txBody>
      </p:sp>
      <p:sp>
        <p:nvSpPr>
          <p:cNvPr id="3" name="Text 1"/>
          <p:cNvSpPr/>
          <p:nvPr/>
        </p:nvSpPr>
        <p:spPr>
          <a:xfrm>
            <a:off x="793790" y="1790938"/>
            <a:ext cx="204073" cy="255151"/>
          </a:xfrm>
          <a:prstGeom prst="rect">
            <a:avLst/>
          </a:prstGeom>
          <a:noFill/>
          <a:ln/>
        </p:spPr>
        <p:txBody>
          <a:bodyPr wrap="none" lIns="0" tIns="0" rIns="0" bIns="0" rtlCol="0" anchor="t"/>
          <a:lstStyle/>
          <a:p>
            <a:pPr algn="l" indent="0" marL="0">
              <a:lnSpc>
                <a:spcPts val="2550"/>
              </a:lnSpc>
              <a:buNone/>
            </a:pPr>
            <a:r>
              <a:rPr lang="en-US" sz="1600" dirty="0">
                <a:solidFill>
                  <a:srgbClr val="272525"/>
                </a:solidFill>
                <a:latin typeface="Inter Light" pitchFamily="34" charset="0"/>
                <a:ea typeface="Inter Light" pitchFamily="34" charset="-122"/>
                <a:cs typeface="Inter Light" pitchFamily="34" charset="-120"/>
              </a:rPr>
              <a:t>01</a:t>
            </a:r>
            <a:endParaRPr lang="en-US" sz="1600" dirty="0"/>
          </a:p>
        </p:txBody>
      </p:sp>
      <p:sp>
        <p:nvSpPr>
          <p:cNvPr id="4" name="Shape 2"/>
          <p:cNvSpPr/>
          <p:nvPr/>
        </p:nvSpPr>
        <p:spPr>
          <a:xfrm>
            <a:off x="793790" y="2114907"/>
            <a:ext cx="6419374" cy="22860"/>
          </a:xfrm>
          <a:prstGeom prst="rect">
            <a:avLst/>
          </a:prstGeom>
          <a:solidFill>
            <a:srgbClr val="4950BC"/>
          </a:solidFill>
          <a:ln/>
        </p:spPr>
      </p:sp>
      <p:sp>
        <p:nvSpPr>
          <p:cNvPr id="5" name="Text 3"/>
          <p:cNvSpPr/>
          <p:nvPr/>
        </p:nvSpPr>
        <p:spPr>
          <a:xfrm>
            <a:off x="793790" y="2262664"/>
            <a:ext cx="2551748" cy="318849"/>
          </a:xfrm>
          <a:prstGeom prst="rect">
            <a:avLst/>
          </a:prstGeom>
          <a:noFill/>
          <a:ln/>
        </p:spPr>
        <p:txBody>
          <a:bodyPr wrap="none" lIns="0" tIns="0" rIns="0" bIns="0" rtlCol="0" anchor="t"/>
          <a:lstStyle/>
          <a:p>
            <a:pPr algn="l" indent="0" marL="0">
              <a:lnSpc>
                <a:spcPts val="2500"/>
              </a:lnSpc>
              <a:buNone/>
            </a:pPr>
            <a:r>
              <a:rPr lang="en-US" sz="2000" b="1" dirty="0">
                <a:solidFill>
                  <a:srgbClr val="272525"/>
                </a:solidFill>
                <a:latin typeface="Inter Bold" pitchFamily="34" charset="0"/>
                <a:ea typeface="Inter Bold" pitchFamily="34" charset="-122"/>
                <a:cs typeface="Inter Bold" pitchFamily="34" charset="-120"/>
              </a:rPr>
              <a:t>Session Planning</a:t>
            </a:r>
            <a:endParaRPr lang="en-US" sz="2000" dirty="0"/>
          </a:p>
        </p:txBody>
      </p:sp>
      <p:sp>
        <p:nvSpPr>
          <p:cNvPr id="6" name="Text 4"/>
          <p:cNvSpPr/>
          <p:nvPr/>
        </p:nvSpPr>
        <p:spPr>
          <a:xfrm>
            <a:off x="793790" y="2703909"/>
            <a:ext cx="6419374" cy="653415"/>
          </a:xfrm>
          <a:prstGeom prst="rect">
            <a:avLst/>
          </a:prstGeom>
          <a:noFill/>
          <a:ln/>
        </p:spPr>
        <p:txBody>
          <a:bodyPr wrap="square" lIns="0" tIns="0" rIns="0" bIns="0" rtlCol="0" anchor="t"/>
          <a:lstStyle/>
          <a:p>
            <a:pPr algn="l" indent="0" marL="0">
              <a:lnSpc>
                <a:spcPts val="2550"/>
              </a:lnSpc>
              <a:buNone/>
            </a:pPr>
            <a:r>
              <a:rPr lang="en-US" sz="1600" dirty="0">
                <a:solidFill>
                  <a:srgbClr val="272525"/>
                </a:solidFill>
                <a:latin typeface="Inter" pitchFamily="34" charset="0"/>
                <a:ea typeface="Inter" pitchFamily="34" charset="-122"/>
                <a:cs typeface="Inter" pitchFamily="34" charset="-120"/>
              </a:rPr>
              <a:t>Developed a detailed lesson plan with theory, examples, and interactive activities, gathering real-world case studies and tools.</a:t>
            </a:r>
            <a:endParaRPr lang="en-US" sz="1600" dirty="0"/>
          </a:p>
        </p:txBody>
      </p:sp>
      <p:sp>
        <p:nvSpPr>
          <p:cNvPr id="7" name="Text 5"/>
          <p:cNvSpPr/>
          <p:nvPr/>
        </p:nvSpPr>
        <p:spPr>
          <a:xfrm>
            <a:off x="7417237" y="1790938"/>
            <a:ext cx="204073" cy="255151"/>
          </a:xfrm>
          <a:prstGeom prst="rect">
            <a:avLst/>
          </a:prstGeom>
          <a:noFill/>
          <a:ln/>
        </p:spPr>
        <p:txBody>
          <a:bodyPr wrap="none" lIns="0" tIns="0" rIns="0" bIns="0" rtlCol="0" anchor="t"/>
          <a:lstStyle/>
          <a:p>
            <a:pPr algn="l" indent="0" marL="0">
              <a:lnSpc>
                <a:spcPts val="2550"/>
              </a:lnSpc>
              <a:buNone/>
            </a:pPr>
            <a:r>
              <a:rPr lang="en-US" sz="1600" dirty="0">
                <a:solidFill>
                  <a:srgbClr val="272525"/>
                </a:solidFill>
                <a:latin typeface="Inter Light" pitchFamily="34" charset="0"/>
                <a:ea typeface="Inter Light" pitchFamily="34" charset="-122"/>
                <a:cs typeface="Inter Light" pitchFamily="34" charset="-120"/>
              </a:rPr>
              <a:t>02</a:t>
            </a:r>
            <a:endParaRPr lang="en-US" sz="1600" dirty="0"/>
          </a:p>
        </p:txBody>
      </p:sp>
      <p:sp>
        <p:nvSpPr>
          <p:cNvPr id="8" name="Shape 6"/>
          <p:cNvSpPr/>
          <p:nvPr/>
        </p:nvSpPr>
        <p:spPr>
          <a:xfrm>
            <a:off x="7417237" y="2114907"/>
            <a:ext cx="6419374" cy="22860"/>
          </a:xfrm>
          <a:prstGeom prst="rect">
            <a:avLst/>
          </a:prstGeom>
          <a:solidFill>
            <a:srgbClr val="4950BC"/>
          </a:solidFill>
          <a:ln/>
        </p:spPr>
      </p:sp>
      <p:sp>
        <p:nvSpPr>
          <p:cNvPr id="9" name="Text 7"/>
          <p:cNvSpPr/>
          <p:nvPr/>
        </p:nvSpPr>
        <p:spPr>
          <a:xfrm>
            <a:off x="7417237" y="2262664"/>
            <a:ext cx="3127891" cy="318849"/>
          </a:xfrm>
          <a:prstGeom prst="rect">
            <a:avLst/>
          </a:prstGeom>
          <a:noFill/>
          <a:ln/>
        </p:spPr>
        <p:txBody>
          <a:bodyPr wrap="none" lIns="0" tIns="0" rIns="0" bIns="0" rtlCol="0" anchor="t"/>
          <a:lstStyle/>
          <a:p>
            <a:pPr algn="l" indent="0" marL="0">
              <a:lnSpc>
                <a:spcPts val="2500"/>
              </a:lnSpc>
              <a:buNone/>
            </a:pPr>
            <a:r>
              <a:rPr lang="en-US" sz="2000" b="1" dirty="0">
                <a:solidFill>
                  <a:srgbClr val="272525"/>
                </a:solidFill>
                <a:latin typeface="Inter Bold" pitchFamily="34" charset="0"/>
                <a:ea typeface="Inter Bold" pitchFamily="34" charset="-122"/>
                <a:cs typeface="Inter Bold" pitchFamily="34" charset="-120"/>
              </a:rPr>
              <a:t>Cyber Security Overview</a:t>
            </a:r>
            <a:endParaRPr lang="en-US" sz="2000" dirty="0"/>
          </a:p>
        </p:txBody>
      </p:sp>
      <p:sp>
        <p:nvSpPr>
          <p:cNvPr id="10" name="Text 8"/>
          <p:cNvSpPr/>
          <p:nvPr/>
        </p:nvSpPr>
        <p:spPr>
          <a:xfrm>
            <a:off x="7417237" y="2703909"/>
            <a:ext cx="6419374" cy="653415"/>
          </a:xfrm>
          <a:prstGeom prst="rect">
            <a:avLst/>
          </a:prstGeom>
          <a:noFill/>
          <a:ln/>
        </p:spPr>
        <p:txBody>
          <a:bodyPr wrap="square" lIns="0" tIns="0" rIns="0" bIns="0" rtlCol="0" anchor="t"/>
          <a:lstStyle/>
          <a:p>
            <a:pPr algn="l" indent="0" marL="0">
              <a:lnSpc>
                <a:spcPts val="2550"/>
              </a:lnSpc>
              <a:buNone/>
            </a:pPr>
            <a:r>
              <a:rPr lang="en-US" sz="1600" dirty="0">
                <a:solidFill>
                  <a:srgbClr val="272525"/>
                </a:solidFill>
                <a:latin typeface="Inter" pitchFamily="34" charset="0"/>
                <a:ea typeface="Inter" pitchFamily="34" charset="-122"/>
                <a:cs typeface="Inter" pitchFamily="34" charset="-120"/>
              </a:rPr>
              <a:t>Clarified cybersecurity's definition, significance, and function, highlighting global and local cybercrime statistics.</a:t>
            </a:r>
            <a:endParaRPr lang="en-US" sz="1600" dirty="0"/>
          </a:p>
        </p:txBody>
      </p:sp>
      <p:sp>
        <p:nvSpPr>
          <p:cNvPr id="11" name="Text 9"/>
          <p:cNvSpPr/>
          <p:nvPr/>
        </p:nvSpPr>
        <p:spPr>
          <a:xfrm>
            <a:off x="793790" y="3714393"/>
            <a:ext cx="204073" cy="255151"/>
          </a:xfrm>
          <a:prstGeom prst="rect">
            <a:avLst/>
          </a:prstGeom>
          <a:noFill/>
          <a:ln/>
        </p:spPr>
        <p:txBody>
          <a:bodyPr wrap="none" lIns="0" tIns="0" rIns="0" bIns="0" rtlCol="0" anchor="t"/>
          <a:lstStyle/>
          <a:p>
            <a:pPr algn="l" indent="0" marL="0">
              <a:lnSpc>
                <a:spcPts val="2550"/>
              </a:lnSpc>
              <a:buNone/>
            </a:pPr>
            <a:r>
              <a:rPr lang="en-US" sz="1600" dirty="0">
                <a:solidFill>
                  <a:srgbClr val="272525"/>
                </a:solidFill>
                <a:latin typeface="Inter Light" pitchFamily="34" charset="0"/>
                <a:ea typeface="Inter Light" pitchFamily="34" charset="-122"/>
                <a:cs typeface="Inter Light" pitchFamily="34" charset="-120"/>
              </a:rPr>
              <a:t>03</a:t>
            </a:r>
            <a:endParaRPr lang="en-US" sz="1600" dirty="0"/>
          </a:p>
        </p:txBody>
      </p:sp>
      <p:sp>
        <p:nvSpPr>
          <p:cNvPr id="12" name="Shape 10"/>
          <p:cNvSpPr/>
          <p:nvPr/>
        </p:nvSpPr>
        <p:spPr>
          <a:xfrm>
            <a:off x="793790" y="4038362"/>
            <a:ext cx="6419374" cy="22860"/>
          </a:xfrm>
          <a:prstGeom prst="rect">
            <a:avLst/>
          </a:prstGeom>
          <a:solidFill>
            <a:srgbClr val="4950BC"/>
          </a:solidFill>
          <a:ln/>
        </p:spPr>
      </p:sp>
      <p:sp>
        <p:nvSpPr>
          <p:cNvPr id="13" name="Text 11"/>
          <p:cNvSpPr/>
          <p:nvPr/>
        </p:nvSpPr>
        <p:spPr>
          <a:xfrm>
            <a:off x="793790" y="4186118"/>
            <a:ext cx="3070146" cy="318849"/>
          </a:xfrm>
          <a:prstGeom prst="rect">
            <a:avLst/>
          </a:prstGeom>
          <a:noFill/>
          <a:ln/>
        </p:spPr>
        <p:txBody>
          <a:bodyPr wrap="none" lIns="0" tIns="0" rIns="0" bIns="0" rtlCol="0" anchor="t"/>
          <a:lstStyle/>
          <a:p>
            <a:pPr algn="l" indent="0" marL="0">
              <a:lnSpc>
                <a:spcPts val="2500"/>
              </a:lnSpc>
              <a:buNone/>
            </a:pPr>
            <a:r>
              <a:rPr lang="en-US" sz="2000" b="1" dirty="0">
                <a:solidFill>
                  <a:srgbClr val="272525"/>
                </a:solidFill>
                <a:latin typeface="Inter Bold" pitchFamily="34" charset="0"/>
                <a:ea typeface="Inter Bold" pitchFamily="34" charset="-122"/>
                <a:cs typeface="Inter Bold" pitchFamily="34" charset="-120"/>
              </a:rPr>
              <a:t>Cyber Threat Categories</a:t>
            </a:r>
            <a:endParaRPr lang="en-US" sz="2000" dirty="0"/>
          </a:p>
        </p:txBody>
      </p:sp>
      <p:sp>
        <p:nvSpPr>
          <p:cNvPr id="14" name="Text 12"/>
          <p:cNvSpPr/>
          <p:nvPr/>
        </p:nvSpPr>
        <p:spPr>
          <a:xfrm>
            <a:off x="793790" y="4627364"/>
            <a:ext cx="6419374" cy="653415"/>
          </a:xfrm>
          <a:prstGeom prst="rect">
            <a:avLst/>
          </a:prstGeom>
          <a:noFill/>
          <a:ln/>
        </p:spPr>
        <p:txBody>
          <a:bodyPr wrap="square" lIns="0" tIns="0" rIns="0" bIns="0" rtlCol="0" anchor="t"/>
          <a:lstStyle/>
          <a:p>
            <a:pPr algn="l" indent="0" marL="0">
              <a:lnSpc>
                <a:spcPts val="2550"/>
              </a:lnSpc>
              <a:buNone/>
            </a:pPr>
            <a:r>
              <a:rPr lang="en-US" sz="1600" dirty="0">
                <a:solidFill>
                  <a:srgbClr val="272525"/>
                </a:solidFill>
                <a:latin typeface="Inter" pitchFamily="34" charset="0"/>
                <a:ea typeface="Inter" pitchFamily="34" charset="-122"/>
                <a:cs typeface="Inter" pitchFamily="34" charset="-120"/>
              </a:rPr>
              <a:t>Reviewed prevalent threats like phishing, malware, and social engineering, illustrating with actual examples.</a:t>
            </a:r>
            <a:endParaRPr lang="en-US" sz="1600" dirty="0"/>
          </a:p>
        </p:txBody>
      </p:sp>
      <p:sp>
        <p:nvSpPr>
          <p:cNvPr id="15" name="Text 13"/>
          <p:cNvSpPr/>
          <p:nvPr/>
        </p:nvSpPr>
        <p:spPr>
          <a:xfrm>
            <a:off x="7417237" y="3714393"/>
            <a:ext cx="204073" cy="255151"/>
          </a:xfrm>
          <a:prstGeom prst="rect">
            <a:avLst/>
          </a:prstGeom>
          <a:noFill/>
          <a:ln/>
        </p:spPr>
        <p:txBody>
          <a:bodyPr wrap="none" lIns="0" tIns="0" rIns="0" bIns="0" rtlCol="0" anchor="t"/>
          <a:lstStyle/>
          <a:p>
            <a:pPr algn="l" indent="0" marL="0">
              <a:lnSpc>
                <a:spcPts val="2550"/>
              </a:lnSpc>
              <a:buNone/>
            </a:pPr>
            <a:r>
              <a:rPr lang="en-US" sz="1600" dirty="0">
                <a:solidFill>
                  <a:srgbClr val="272525"/>
                </a:solidFill>
                <a:latin typeface="Inter Light" pitchFamily="34" charset="0"/>
                <a:ea typeface="Inter Light" pitchFamily="34" charset="-122"/>
                <a:cs typeface="Inter Light" pitchFamily="34" charset="-120"/>
              </a:rPr>
              <a:t>04</a:t>
            </a:r>
            <a:endParaRPr lang="en-US" sz="1600" dirty="0"/>
          </a:p>
        </p:txBody>
      </p:sp>
      <p:sp>
        <p:nvSpPr>
          <p:cNvPr id="16" name="Shape 14"/>
          <p:cNvSpPr/>
          <p:nvPr/>
        </p:nvSpPr>
        <p:spPr>
          <a:xfrm>
            <a:off x="7417237" y="4038362"/>
            <a:ext cx="6419374" cy="22860"/>
          </a:xfrm>
          <a:prstGeom prst="rect">
            <a:avLst/>
          </a:prstGeom>
          <a:solidFill>
            <a:srgbClr val="4950BC"/>
          </a:solidFill>
          <a:ln/>
        </p:spPr>
      </p:sp>
      <p:sp>
        <p:nvSpPr>
          <p:cNvPr id="17" name="Text 15"/>
          <p:cNvSpPr/>
          <p:nvPr/>
        </p:nvSpPr>
        <p:spPr>
          <a:xfrm>
            <a:off x="7417237" y="4186118"/>
            <a:ext cx="2878455" cy="318849"/>
          </a:xfrm>
          <a:prstGeom prst="rect">
            <a:avLst/>
          </a:prstGeom>
          <a:noFill/>
          <a:ln/>
        </p:spPr>
        <p:txBody>
          <a:bodyPr wrap="none" lIns="0" tIns="0" rIns="0" bIns="0" rtlCol="0" anchor="t"/>
          <a:lstStyle/>
          <a:p>
            <a:pPr algn="l" indent="0" marL="0">
              <a:lnSpc>
                <a:spcPts val="2500"/>
              </a:lnSpc>
              <a:buNone/>
            </a:pPr>
            <a:r>
              <a:rPr lang="en-US" sz="2000" b="1" dirty="0">
                <a:solidFill>
                  <a:srgbClr val="272525"/>
                </a:solidFill>
                <a:latin typeface="Inter Bold" pitchFamily="34" charset="0"/>
                <a:ea typeface="Inter Bold" pitchFamily="34" charset="-122"/>
                <a:cs typeface="Inter Bold" pitchFamily="34" charset="-120"/>
              </a:rPr>
              <a:t>Activity Demonstration</a:t>
            </a:r>
            <a:endParaRPr lang="en-US" sz="2000" dirty="0"/>
          </a:p>
        </p:txBody>
      </p:sp>
      <p:sp>
        <p:nvSpPr>
          <p:cNvPr id="18" name="Text 16"/>
          <p:cNvSpPr/>
          <p:nvPr/>
        </p:nvSpPr>
        <p:spPr>
          <a:xfrm>
            <a:off x="7417237" y="4627364"/>
            <a:ext cx="6419374" cy="653415"/>
          </a:xfrm>
          <a:prstGeom prst="rect">
            <a:avLst/>
          </a:prstGeom>
          <a:noFill/>
          <a:ln/>
        </p:spPr>
        <p:txBody>
          <a:bodyPr wrap="square" lIns="0" tIns="0" rIns="0" bIns="0" rtlCol="0" anchor="t"/>
          <a:lstStyle/>
          <a:p>
            <a:pPr algn="l" indent="0" marL="0">
              <a:lnSpc>
                <a:spcPts val="2550"/>
              </a:lnSpc>
              <a:buNone/>
            </a:pPr>
            <a:r>
              <a:rPr lang="en-US" sz="1600" dirty="0">
                <a:solidFill>
                  <a:srgbClr val="272525"/>
                </a:solidFill>
                <a:latin typeface="Inter" pitchFamily="34" charset="0"/>
                <a:ea typeface="Inter" pitchFamily="34" charset="-122"/>
                <a:cs typeface="Inter" pitchFamily="34" charset="-120"/>
              </a:rPr>
              <a:t>Showcased how cybercriminals use fake login pages and demonstrated strong password creation and password managers.</a:t>
            </a:r>
            <a:endParaRPr lang="en-US" sz="1600" dirty="0"/>
          </a:p>
        </p:txBody>
      </p:sp>
      <p:sp>
        <p:nvSpPr>
          <p:cNvPr id="19" name="Text 17"/>
          <p:cNvSpPr/>
          <p:nvPr/>
        </p:nvSpPr>
        <p:spPr>
          <a:xfrm>
            <a:off x="793790" y="5637848"/>
            <a:ext cx="204073" cy="255151"/>
          </a:xfrm>
          <a:prstGeom prst="rect">
            <a:avLst/>
          </a:prstGeom>
          <a:noFill/>
          <a:ln/>
        </p:spPr>
        <p:txBody>
          <a:bodyPr wrap="none" lIns="0" tIns="0" rIns="0" bIns="0" rtlCol="0" anchor="t"/>
          <a:lstStyle/>
          <a:p>
            <a:pPr algn="l" indent="0" marL="0">
              <a:lnSpc>
                <a:spcPts val="2550"/>
              </a:lnSpc>
              <a:buNone/>
            </a:pPr>
            <a:r>
              <a:rPr lang="en-US" sz="1600" dirty="0">
                <a:solidFill>
                  <a:srgbClr val="272525"/>
                </a:solidFill>
                <a:latin typeface="Inter Light" pitchFamily="34" charset="0"/>
                <a:ea typeface="Inter Light" pitchFamily="34" charset="-122"/>
                <a:cs typeface="Inter Light" pitchFamily="34" charset="-120"/>
              </a:rPr>
              <a:t>05</a:t>
            </a:r>
            <a:endParaRPr lang="en-US" sz="1600" dirty="0"/>
          </a:p>
        </p:txBody>
      </p:sp>
      <p:sp>
        <p:nvSpPr>
          <p:cNvPr id="20" name="Shape 18"/>
          <p:cNvSpPr/>
          <p:nvPr/>
        </p:nvSpPr>
        <p:spPr>
          <a:xfrm>
            <a:off x="793790" y="5961817"/>
            <a:ext cx="6419374" cy="22860"/>
          </a:xfrm>
          <a:prstGeom prst="rect">
            <a:avLst/>
          </a:prstGeom>
          <a:solidFill>
            <a:srgbClr val="4950BC"/>
          </a:solidFill>
          <a:ln/>
        </p:spPr>
      </p:sp>
      <p:sp>
        <p:nvSpPr>
          <p:cNvPr id="21" name="Text 19"/>
          <p:cNvSpPr/>
          <p:nvPr/>
        </p:nvSpPr>
        <p:spPr>
          <a:xfrm>
            <a:off x="793790" y="6109573"/>
            <a:ext cx="3090505" cy="318849"/>
          </a:xfrm>
          <a:prstGeom prst="rect">
            <a:avLst/>
          </a:prstGeom>
          <a:noFill/>
          <a:ln/>
        </p:spPr>
        <p:txBody>
          <a:bodyPr wrap="none" lIns="0" tIns="0" rIns="0" bIns="0" rtlCol="0" anchor="t"/>
          <a:lstStyle/>
          <a:p>
            <a:pPr algn="l" indent="0" marL="0">
              <a:lnSpc>
                <a:spcPts val="2500"/>
              </a:lnSpc>
              <a:buNone/>
            </a:pPr>
            <a:r>
              <a:rPr lang="en-US" sz="2000" b="1" dirty="0">
                <a:solidFill>
                  <a:srgbClr val="272525"/>
                </a:solidFill>
                <a:latin typeface="Inter Bold" pitchFamily="34" charset="0"/>
                <a:ea typeface="Inter Bold" pitchFamily="34" charset="-122"/>
                <a:cs typeface="Inter Bold" pitchFamily="34" charset="-120"/>
              </a:rPr>
              <a:t>Internet Safety Practices</a:t>
            </a:r>
            <a:endParaRPr lang="en-US" sz="2000" dirty="0"/>
          </a:p>
        </p:txBody>
      </p:sp>
      <p:sp>
        <p:nvSpPr>
          <p:cNvPr id="22" name="Text 20"/>
          <p:cNvSpPr/>
          <p:nvPr/>
        </p:nvSpPr>
        <p:spPr>
          <a:xfrm>
            <a:off x="793790" y="6550819"/>
            <a:ext cx="6419374" cy="653415"/>
          </a:xfrm>
          <a:prstGeom prst="rect">
            <a:avLst/>
          </a:prstGeom>
          <a:noFill/>
          <a:ln/>
        </p:spPr>
        <p:txBody>
          <a:bodyPr wrap="square" lIns="0" tIns="0" rIns="0" bIns="0" rtlCol="0" anchor="t"/>
          <a:lstStyle/>
          <a:p>
            <a:pPr algn="l" indent="0" marL="0">
              <a:lnSpc>
                <a:spcPts val="2550"/>
              </a:lnSpc>
              <a:buNone/>
            </a:pPr>
            <a:r>
              <a:rPr lang="en-US" sz="1600" dirty="0">
                <a:solidFill>
                  <a:srgbClr val="272525"/>
                </a:solidFill>
                <a:latin typeface="Inter" pitchFamily="34" charset="0"/>
                <a:ea typeface="Inter" pitchFamily="34" charset="-122"/>
                <a:cs typeface="Inter" pitchFamily="34" charset="-120"/>
              </a:rPr>
              <a:t>Instructed on website security verification, social media privacy settings, and avoiding suspicious links.</a:t>
            </a:r>
            <a:endParaRPr lang="en-US" sz="1600" dirty="0"/>
          </a:p>
        </p:txBody>
      </p:sp>
      <p:sp>
        <p:nvSpPr>
          <p:cNvPr id="23" name="Text 21"/>
          <p:cNvSpPr/>
          <p:nvPr/>
        </p:nvSpPr>
        <p:spPr>
          <a:xfrm>
            <a:off x="7417237" y="5637848"/>
            <a:ext cx="204073" cy="255151"/>
          </a:xfrm>
          <a:prstGeom prst="rect">
            <a:avLst/>
          </a:prstGeom>
          <a:noFill/>
          <a:ln/>
        </p:spPr>
        <p:txBody>
          <a:bodyPr wrap="none" lIns="0" tIns="0" rIns="0" bIns="0" rtlCol="0" anchor="t"/>
          <a:lstStyle/>
          <a:p>
            <a:pPr algn="l" indent="0" marL="0">
              <a:lnSpc>
                <a:spcPts val="2550"/>
              </a:lnSpc>
              <a:buNone/>
            </a:pPr>
            <a:r>
              <a:rPr lang="en-US" sz="1600" dirty="0">
                <a:solidFill>
                  <a:srgbClr val="272525"/>
                </a:solidFill>
                <a:latin typeface="Inter Light" pitchFamily="34" charset="0"/>
                <a:ea typeface="Inter Light" pitchFamily="34" charset="-122"/>
                <a:cs typeface="Inter Light" pitchFamily="34" charset="-120"/>
              </a:rPr>
              <a:t>06</a:t>
            </a:r>
            <a:endParaRPr lang="en-US" sz="1600" dirty="0"/>
          </a:p>
        </p:txBody>
      </p:sp>
      <p:sp>
        <p:nvSpPr>
          <p:cNvPr id="24" name="Shape 22"/>
          <p:cNvSpPr/>
          <p:nvPr/>
        </p:nvSpPr>
        <p:spPr>
          <a:xfrm>
            <a:off x="7417237" y="5961817"/>
            <a:ext cx="6419374" cy="22860"/>
          </a:xfrm>
          <a:prstGeom prst="rect">
            <a:avLst/>
          </a:prstGeom>
          <a:solidFill>
            <a:srgbClr val="4950BC"/>
          </a:solidFill>
          <a:ln/>
        </p:spPr>
      </p:sp>
      <p:sp>
        <p:nvSpPr>
          <p:cNvPr id="25" name="Text 23"/>
          <p:cNvSpPr/>
          <p:nvPr/>
        </p:nvSpPr>
        <p:spPr>
          <a:xfrm>
            <a:off x="7417237" y="6109573"/>
            <a:ext cx="3277195" cy="318849"/>
          </a:xfrm>
          <a:prstGeom prst="rect">
            <a:avLst/>
          </a:prstGeom>
          <a:noFill/>
          <a:ln/>
        </p:spPr>
        <p:txBody>
          <a:bodyPr wrap="none" lIns="0" tIns="0" rIns="0" bIns="0" rtlCol="0" anchor="t"/>
          <a:lstStyle/>
          <a:p>
            <a:pPr algn="l" indent="0" marL="0">
              <a:lnSpc>
                <a:spcPts val="2500"/>
              </a:lnSpc>
              <a:buNone/>
            </a:pPr>
            <a:r>
              <a:rPr lang="en-US" sz="2000" b="1" dirty="0">
                <a:solidFill>
                  <a:srgbClr val="272525"/>
                </a:solidFill>
                <a:latin typeface="Inter Bold" pitchFamily="34" charset="0"/>
                <a:ea typeface="Inter Bold" pitchFamily="34" charset="-122"/>
                <a:cs typeface="Inter Bold" pitchFamily="34" charset="-120"/>
              </a:rPr>
              <a:t>Case Studies &amp; Interaction</a:t>
            </a:r>
            <a:endParaRPr lang="en-US" sz="2000" dirty="0"/>
          </a:p>
        </p:txBody>
      </p:sp>
      <p:sp>
        <p:nvSpPr>
          <p:cNvPr id="26" name="Text 24"/>
          <p:cNvSpPr/>
          <p:nvPr/>
        </p:nvSpPr>
        <p:spPr>
          <a:xfrm>
            <a:off x="7417237" y="6550819"/>
            <a:ext cx="6419374" cy="653415"/>
          </a:xfrm>
          <a:prstGeom prst="rect">
            <a:avLst/>
          </a:prstGeom>
          <a:noFill/>
          <a:ln/>
        </p:spPr>
        <p:txBody>
          <a:bodyPr wrap="square" lIns="0" tIns="0" rIns="0" bIns="0" rtlCol="0" anchor="t"/>
          <a:lstStyle/>
          <a:p>
            <a:pPr algn="l" indent="0" marL="0">
              <a:lnSpc>
                <a:spcPts val="2550"/>
              </a:lnSpc>
              <a:buNone/>
            </a:pPr>
            <a:r>
              <a:rPr lang="en-US" sz="1600" dirty="0">
                <a:solidFill>
                  <a:srgbClr val="272525"/>
                </a:solidFill>
                <a:latin typeface="Inter" pitchFamily="34" charset="0"/>
                <a:ea typeface="Inter" pitchFamily="34" charset="-122"/>
                <a:cs typeface="Inter" pitchFamily="34" charset="-120"/>
              </a:rPr>
              <a:t>Presented cybercrime cases, facilitated discussions, conducted phishing simulations, and demonstrated antivirus software.</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1479590"/>
            <a:ext cx="10998756" cy="566976"/>
          </a:xfrm>
          <a:prstGeom prst="rect">
            <a:avLst/>
          </a:prstGeom>
          <a:noFill/>
          <a:ln/>
        </p:spPr>
        <p:txBody>
          <a:bodyPr wrap="none" lIns="0" tIns="0" rIns="0" bIns="0" rtlCol="0" anchor="t"/>
          <a:lstStyle/>
          <a:p>
            <a:pPr algn="l" indent="0" marL="0">
              <a:lnSpc>
                <a:spcPts val="4450"/>
              </a:lnSpc>
              <a:buNone/>
            </a:pPr>
            <a:r>
              <a:rPr lang="en-US" sz="3550" b="1" dirty="0">
                <a:solidFill>
                  <a:srgbClr val="000000"/>
                </a:solidFill>
                <a:latin typeface="Inter Bold" pitchFamily="34" charset="0"/>
                <a:ea typeface="Inter Bold" pitchFamily="34" charset="-122"/>
                <a:cs typeface="Inter Bold" pitchFamily="34" charset="-120"/>
              </a:rPr>
              <a:t>Impact &amp; Outcomes: Enhanced Digital Confidence</a:t>
            </a:r>
            <a:endParaRPr lang="en-US" sz="355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93790" y="2500193"/>
            <a:ext cx="680442" cy="680442"/>
          </a:xfrm>
          <a:prstGeom prst="rect">
            <a:avLst/>
          </a:prstGeom>
        </p:spPr>
      </p:pic>
      <p:sp>
        <p:nvSpPr>
          <p:cNvPr id="4" name="Text 1"/>
          <p:cNvSpPr/>
          <p:nvPr/>
        </p:nvSpPr>
        <p:spPr>
          <a:xfrm>
            <a:off x="1757720" y="2691527"/>
            <a:ext cx="3210520" cy="354330"/>
          </a:xfrm>
          <a:prstGeom prst="rect">
            <a:avLst/>
          </a:prstGeom>
          <a:noFill/>
          <a:ln/>
        </p:spPr>
        <p:txBody>
          <a:bodyPr wrap="none" lIns="0" tIns="0" rIns="0" bIns="0" rtlCol="0" anchor="t"/>
          <a:lstStyle/>
          <a:p>
            <a:pPr algn="l" indent="0" marL="0">
              <a:lnSpc>
                <a:spcPts val="2750"/>
              </a:lnSpc>
              <a:buNone/>
            </a:pPr>
            <a:r>
              <a:rPr lang="en-US" sz="2200" b="1" dirty="0">
                <a:solidFill>
                  <a:srgbClr val="272525"/>
                </a:solidFill>
                <a:latin typeface="Inter Bold" pitchFamily="34" charset="0"/>
                <a:ea typeface="Inter Bold" pitchFamily="34" charset="-122"/>
                <a:cs typeface="Inter Bold" pitchFamily="34" charset="-120"/>
              </a:rPr>
              <a:t>Heightened Awareness</a:t>
            </a:r>
            <a:endParaRPr lang="en-US" sz="2200" dirty="0"/>
          </a:p>
        </p:txBody>
      </p:sp>
      <p:sp>
        <p:nvSpPr>
          <p:cNvPr id="5" name="Text 2"/>
          <p:cNvSpPr/>
          <p:nvPr/>
        </p:nvSpPr>
        <p:spPr>
          <a:xfrm>
            <a:off x="1757720" y="3181945"/>
            <a:ext cx="5415677" cy="725805"/>
          </a:xfrm>
          <a:prstGeom prst="rect">
            <a:avLst/>
          </a:prstGeom>
          <a:noFill/>
          <a:ln/>
        </p:spPr>
        <p:txBody>
          <a:bodyPr wrap="square" lIns="0" tIns="0" rIns="0" bIns="0" rtlCol="0" anchor="t"/>
          <a:lstStyle/>
          <a:p>
            <a:pPr algn="l" indent="0" marL="0">
              <a:lnSpc>
                <a:spcPts val="2850"/>
              </a:lnSpc>
              <a:buNone/>
            </a:pPr>
            <a:r>
              <a:rPr lang="en-US" sz="1750" dirty="0">
                <a:solidFill>
                  <a:srgbClr val="272525"/>
                </a:solidFill>
                <a:latin typeface="Inter" pitchFamily="34" charset="0"/>
                <a:ea typeface="Inter" pitchFamily="34" charset="-122"/>
                <a:cs typeface="Inter" pitchFamily="34" charset="-120"/>
              </a:rPr>
              <a:t>Students gained a deeper understanding of cyber threats and vulnerabilities.</a:t>
            </a:r>
            <a:endParaRPr lang="en-US" sz="1750" dirty="0"/>
          </a:p>
        </p:txBody>
      </p:sp>
      <p:pic>
        <p:nvPicPr>
          <p:cNvPr id="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56884" y="2500193"/>
            <a:ext cx="680442" cy="680442"/>
          </a:xfrm>
          <a:prstGeom prst="rect">
            <a:avLst/>
          </a:prstGeom>
        </p:spPr>
      </p:pic>
      <p:sp>
        <p:nvSpPr>
          <p:cNvPr id="7" name="Text 3"/>
          <p:cNvSpPr/>
          <p:nvPr/>
        </p:nvSpPr>
        <p:spPr>
          <a:xfrm>
            <a:off x="8420814" y="2691527"/>
            <a:ext cx="3051691" cy="354330"/>
          </a:xfrm>
          <a:prstGeom prst="rect">
            <a:avLst/>
          </a:prstGeom>
          <a:noFill/>
          <a:ln/>
        </p:spPr>
        <p:txBody>
          <a:bodyPr wrap="none" lIns="0" tIns="0" rIns="0" bIns="0" rtlCol="0" anchor="t"/>
          <a:lstStyle/>
          <a:p>
            <a:pPr algn="l" indent="0" marL="0">
              <a:lnSpc>
                <a:spcPts val="2750"/>
              </a:lnSpc>
              <a:buNone/>
            </a:pPr>
            <a:r>
              <a:rPr lang="en-US" sz="2200" b="1" dirty="0">
                <a:solidFill>
                  <a:srgbClr val="272525"/>
                </a:solidFill>
                <a:latin typeface="Inter Bold" pitchFamily="34" charset="0"/>
                <a:ea typeface="Inter Bold" pitchFamily="34" charset="-122"/>
                <a:cs typeface="Inter Bold" pitchFamily="34" charset="-120"/>
              </a:rPr>
              <a:t>Increased Confidence</a:t>
            </a:r>
            <a:endParaRPr lang="en-US" sz="2200" dirty="0"/>
          </a:p>
        </p:txBody>
      </p:sp>
      <p:sp>
        <p:nvSpPr>
          <p:cNvPr id="8" name="Text 4"/>
          <p:cNvSpPr/>
          <p:nvPr/>
        </p:nvSpPr>
        <p:spPr>
          <a:xfrm>
            <a:off x="8420814" y="3181945"/>
            <a:ext cx="5415796" cy="725805"/>
          </a:xfrm>
          <a:prstGeom prst="rect">
            <a:avLst/>
          </a:prstGeom>
          <a:noFill/>
          <a:ln/>
        </p:spPr>
        <p:txBody>
          <a:bodyPr wrap="square" lIns="0" tIns="0" rIns="0" bIns="0" rtlCol="0" anchor="t"/>
          <a:lstStyle/>
          <a:p>
            <a:pPr algn="l" indent="0" marL="0">
              <a:lnSpc>
                <a:spcPts val="2850"/>
              </a:lnSpc>
              <a:buNone/>
            </a:pPr>
            <a:r>
              <a:rPr lang="en-US" sz="1750" dirty="0">
                <a:solidFill>
                  <a:srgbClr val="272525"/>
                </a:solidFill>
                <a:latin typeface="Inter" pitchFamily="34" charset="0"/>
                <a:ea typeface="Inter" pitchFamily="34" charset="-122"/>
                <a:cs typeface="Inter" pitchFamily="34" charset="-120"/>
              </a:rPr>
              <a:t>Participants felt more secure in identifying and responding to suspicious online activities.</a:t>
            </a:r>
            <a:endParaRPr lang="en-US" sz="1750" dirty="0"/>
          </a:p>
        </p:txBody>
      </p:sp>
      <p:pic>
        <p:nvPicPr>
          <p:cNvPr id="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93790" y="4361378"/>
            <a:ext cx="680442" cy="680442"/>
          </a:xfrm>
          <a:prstGeom prst="rect">
            <a:avLst/>
          </a:prstGeom>
        </p:spPr>
      </p:pic>
      <p:sp>
        <p:nvSpPr>
          <p:cNvPr id="10" name="Text 5"/>
          <p:cNvSpPr/>
          <p:nvPr/>
        </p:nvSpPr>
        <p:spPr>
          <a:xfrm>
            <a:off x="1757720" y="4552712"/>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272525"/>
                </a:solidFill>
                <a:latin typeface="Inter Bold" pitchFamily="34" charset="0"/>
                <a:ea typeface="Inter Bold" pitchFamily="34" charset="-122"/>
                <a:cs typeface="Inter Bold" pitchFamily="34" charset="-120"/>
              </a:rPr>
              <a:t>Proactive Measures</a:t>
            </a:r>
            <a:endParaRPr lang="en-US" sz="2200" dirty="0"/>
          </a:p>
        </p:txBody>
      </p:sp>
      <p:sp>
        <p:nvSpPr>
          <p:cNvPr id="11" name="Text 6"/>
          <p:cNvSpPr/>
          <p:nvPr/>
        </p:nvSpPr>
        <p:spPr>
          <a:xfrm>
            <a:off x="1757720" y="5043130"/>
            <a:ext cx="5415677" cy="725805"/>
          </a:xfrm>
          <a:prstGeom prst="rect">
            <a:avLst/>
          </a:prstGeom>
          <a:noFill/>
          <a:ln/>
        </p:spPr>
        <p:txBody>
          <a:bodyPr wrap="square" lIns="0" tIns="0" rIns="0" bIns="0" rtlCol="0" anchor="t"/>
          <a:lstStyle/>
          <a:p>
            <a:pPr algn="l" indent="0" marL="0">
              <a:lnSpc>
                <a:spcPts val="2850"/>
              </a:lnSpc>
              <a:buNone/>
            </a:pPr>
            <a:r>
              <a:rPr lang="en-US" sz="1750" dirty="0">
                <a:solidFill>
                  <a:srgbClr val="272525"/>
                </a:solidFill>
                <a:latin typeface="Inter" pitchFamily="34" charset="0"/>
                <a:ea typeface="Inter" pitchFamily="34" charset="-122"/>
                <a:cs typeface="Inter" pitchFamily="34" charset="-120"/>
              </a:rPr>
              <a:t>Adoption of stronger passwords, two-factor authentication, and cautious online interactions.</a:t>
            </a:r>
            <a:endParaRPr lang="en-US" sz="1750" dirty="0"/>
          </a:p>
        </p:txBody>
      </p:sp>
      <p:pic>
        <p:nvPicPr>
          <p:cNvPr id="12"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456884" y="4361378"/>
            <a:ext cx="680442" cy="680442"/>
          </a:xfrm>
          <a:prstGeom prst="rect">
            <a:avLst/>
          </a:prstGeom>
        </p:spPr>
      </p:pic>
      <p:sp>
        <p:nvSpPr>
          <p:cNvPr id="13" name="Text 7"/>
          <p:cNvSpPr/>
          <p:nvPr/>
        </p:nvSpPr>
        <p:spPr>
          <a:xfrm>
            <a:off x="8420814" y="4552712"/>
            <a:ext cx="3361730" cy="354330"/>
          </a:xfrm>
          <a:prstGeom prst="rect">
            <a:avLst/>
          </a:prstGeom>
          <a:noFill/>
          <a:ln/>
        </p:spPr>
        <p:txBody>
          <a:bodyPr wrap="none" lIns="0" tIns="0" rIns="0" bIns="0" rtlCol="0" anchor="t"/>
          <a:lstStyle/>
          <a:p>
            <a:pPr algn="l" indent="0" marL="0">
              <a:lnSpc>
                <a:spcPts val="2750"/>
              </a:lnSpc>
              <a:buNone/>
            </a:pPr>
            <a:r>
              <a:rPr lang="en-US" sz="2200" b="1" dirty="0">
                <a:solidFill>
                  <a:srgbClr val="272525"/>
                </a:solidFill>
                <a:latin typeface="Inter Bold" pitchFamily="34" charset="0"/>
                <a:ea typeface="Inter Bold" pitchFamily="34" charset="-122"/>
                <a:cs typeface="Inter Bold" pitchFamily="34" charset="-120"/>
              </a:rPr>
              <a:t>Inspiring Future Leaders</a:t>
            </a:r>
            <a:endParaRPr lang="en-US" sz="2200" dirty="0"/>
          </a:p>
        </p:txBody>
      </p:sp>
      <p:sp>
        <p:nvSpPr>
          <p:cNvPr id="14" name="Text 8"/>
          <p:cNvSpPr/>
          <p:nvPr/>
        </p:nvSpPr>
        <p:spPr>
          <a:xfrm>
            <a:off x="8420814" y="5043130"/>
            <a:ext cx="5415796" cy="725805"/>
          </a:xfrm>
          <a:prstGeom prst="rect">
            <a:avLst/>
          </a:prstGeom>
          <a:noFill/>
          <a:ln/>
        </p:spPr>
        <p:txBody>
          <a:bodyPr wrap="square" lIns="0" tIns="0" rIns="0" bIns="0" rtlCol="0" anchor="t"/>
          <a:lstStyle/>
          <a:p>
            <a:pPr algn="l" indent="0" marL="0">
              <a:lnSpc>
                <a:spcPts val="2850"/>
              </a:lnSpc>
              <a:buNone/>
            </a:pPr>
            <a:r>
              <a:rPr lang="en-US" sz="1750" dirty="0">
                <a:solidFill>
                  <a:srgbClr val="272525"/>
                </a:solidFill>
                <a:latin typeface="Inter" pitchFamily="34" charset="0"/>
                <a:ea typeface="Inter" pitchFamily="34" charset="-122"/>
                <a:cs typeface="Inter" pitchFamily="34" charset="-120"/>
              </a:rPr>
              <a:t>Many students expressed interest in pursuing advanced cybersecurity skills and careers.</a:t>
            </a:r>
            <a:endParaRPr lang="en-US" sz="1750" dirty="0"/>
          </a:p>
        </p:txBody>
      </p:sp>
      <p:sp>
        <p:nvSpPr>
          <p:cNvPr id="15" name="Text 9"/>
          <p:cNvSpPr/>
          <p:nvPr/>
        </p:nvSpPr>
        <p:spPr>
          <a:xfrm>
            <a:off x="793790" y="6024086"/>
            <a:ext cx="13042821" cy="725805"/>
          </a:xfrm>
          <a:prstGeom prst="rect">
            <a:avLst/>
          </a:prstGeom>
          <a:noFill/>
          <a:ln/>
        </p:spPr>
        <p:txBody>
          <a:bodyPr wrap="square" lIns="0" tIns="0" rIns="0" bIns="0" rtlCol="0" anchor="t"/>
          <a:lstStyle/>
          <a:p>
            <a:pPr algn="l" indent="0" marL="0">
              <a:lnSpc>
                <a:spcPts val="2850"/>
              </a:lnSpc>
              <a:buNone/>
            </a:pPr>
            <a:r>
              <a:rPr lang="en-US" sz="1750" dirty="0">
                <a:solidFill>
                  <a:srgbClr val="272525"/>
                </a:solidFill>
                <a:latin typeface="Inter" pitchFamily="34" charset="0"/>
                <a:ea typeface="Inter" pitchFamily="34" charset="-122"/>
                <a:cs typeface="Inter" pitchFamily="34" charset="-120"/>
              </a:rPr>
              <a:t>The hands-on demonstrations were particularly impactful, making complex theoretical concepts relatable and memorable for all participants.</a:t>
            </a:r>
            <a:endParaRPr lang="en-US" sz="1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27829" y="571857"/>
            <a:ext cx="6336744" cy="389930"/>
          </a:xfrm>
          <a:prstGeom prst="rect">
            <a:avLst/>
          </a:prstGeom>
          <a:noFill/>
          <a:ln/>
        </p:spPr>
        <p:txBody>
          <a:bodyPr wrap="none" lIns="0" tIns="0" rIns="0" bIns="0" rtlCol="0" anchor="t"/>
          <a:lstStyle/>
          <a:p>
            <a:pPr algn="l" indent="0" marL="0">
              <a:lnSpc>
                <a:spcPts val="3050"/>
              </a:lnSpc>
              <a:buNone/>
            </a:pPr>
            <a:r>
              <a:rPr lang="en-US" sz="2450" b="1" dirty="0">
                <a:solidFill>
                  <a:srgbClr val="000000"/>
                </a:solidFill>
                <a:latin typeface="Inter Bold" pitchFamily="34" charset="0"/>
                <a:ea typeface="Inter Bold" pitchFamily="34" charset="-122"/>
                <a:cs typeface="Inter Bold" pitchFamily="34" charset="-120"/>
              </a:rPr>
              <a:t>Societal Problems &amp; Project Effectiveness</a:t>
            </a:r>
            <a:endParaRPr lang="en-US" sz="2450" dirty="0"/>
          </a:p>
        </p:txBody>
      </p:sp>
      <p:sp>
        <p:nvSpPr>
          <p:cNvPr id="3" name="Text 1"/>
          <p:cNvSpPr/>
          <p:nvPr/>
        </p:nvSpPr>
        <p:spPr>
          <a:xfrm>
            <a:off x="727829" y="1481495"/>
            <a:ext cx="4273034" cy="389930"/>
          </a:xfrm>
          <a:prstGeom prst="rect">
            <a:avLst/>
          </a:prstGeom>
          <a:noFill/>
          <a:ln/>
        </p:spPr>
        <p:txBody>
          <a:bodyPr wrap="none" lIns="0" tIns="0" rIns="0" bIns="0" rtlCol="0" anchor="t"/>
          <a:lstStyle/>
          <a:p>
            <a:pPr algn="l" indent="0" marL="0">
              <a:lnSpc>
                <a:spcPts val="3050"/>
              </a:lnSpc>
              <a:buNone/>
            </a:pPr>
            <a:r>
              <a:rPr lang="en-US" sz="2450" b="1" dirty="0">
                <a:solidFill>
                  <a:srgbClr val="000000"/>
                </a:solidFill>
                <a:latin typeface="Inter Bold" pitchFamily="34" charset="0"/>
                <a:ea typeface="Inter Bold" pitchFamily="34" charset="-122"/>
                <a:cs typeface="Inter Bold" pitchFamily="34" charset="-120"/>
              </a:rPr>
              <a:t>Identified Societal Problems</a:t>
            </a:r>
            <a:endParaRPr lang="en-US" sz="2450" dirty="0"/>
          </a:p>
        </p:txBody>
      </p:sp>
      <p:sp>
        <p:nvSpPr>
          <p:cNvPr id="4" name="Text 2"/>
          <p:cNvSpPr/>
          <p:nvPr/>
        </p:nvSpPr>
        <p:spPr>
          <a:xfrm>
            <a:off x="727829" y="2079308"/>
            <a:ext cx="6333768" cy="665559"/>
          </a:xfrm>
          <a:prstGeom prst="rect">
            <a:avLst/>
          </a:prstGeom>
          <a:noFill/>
          <a:ln/>
        </p:spPr>
        <p:txBody>
          <a:bodyPr wrap="square" lIns="0" tIns="0" rIns="0" bIns="0" rtlCol="0" anchor="t"/>
          <a:lstStyle/>
          <a:p>
            <a:pPr algn="l" marL="342900" indent="-342900">
              <a:lnSpc>
                <a:spcPts val="2600"/>
              </a:lnSpc>
              <a:buSzPct val="100000"/>
              <a:buChar char="•"/>
            </a:pPr>
            <a:r>
              <a:rPr lang="en-US" sz="1600" dirty="0">
                <a:solidFill>
                  <a:srgbClr val="272525"/>
                </a:solidFill>
                <a:latin typeface="Inter" pitchFamily="34" charset="0"/>
                <a:ea typeface="Inter" pitchFamily="34" charset="-122"/>
                <a:cs typeface="Inter" pitchFamily="34" charset="-120"/>
              </a:rPr>
              <a:t>Significant lack of public understanding regarding cyber threats.</a:t>
            </a:r>
            <a:endParaRPr lang="en-US" sz="1600" dirty="0"/>
          </a:p>
        </p:txBody>
      </p:sp>
      <p:sp>
        <p:nvSpPr>
          <p:cNvPr id="5" name="Text 3"/>
          <p:cNvSpPr/>
          <p:nvPr/>
        </p:nvSpPr>
        <p:spPr>
          <a:xfrm>
            <a:off x="727829" y="2817614"/>
            <a:ext cx="6333768" cy="665559"/>
          </a:xfrm>
          <a:prstGeom prst="rect">
            <a:avLst/>
          </a:prstGeom>
          <a:noFill/>
          <a:ln/>
        </p:spPr>
        <p:txBody>
          <a:bodyPr wrap="square" lIns="0" tIns="0" rIns="0" bIns="0" rtlCol="0" anchor="t"/>
          <a:lstStyle/>
          <a:p>
            <a:pPr algn="l" marL="342900" indent="-342900">
              <a:lnSpc>
                <a:spcPts val="2600"/>
              </a:lnSpc>
              <a:buSzPct val="100000"/>
              <a:buChar char="•"/>
            </a:pPr>
            <a:r>
              <a:rPr lang="en-US" sz="1600" dirty="0">
                <a:solidFill>
                  <a:srgbClr val="272525"/>
                </a:solidFill>
                <a:latin typeface="Inter" pitchFamily="34" charset="0"/>
                <a:ea typeface="Inter" pitchFamily="34" charset="-122"/>
                <a:cs typeface="Inter" pitchFamily="34" charset="-120"/>
              </a:rPr>
              <a:t>Escalating frequency of cybercrime incidents targeting young internet users.</a:t>
            </a:r>
            <a:endParaRPr lang="en-US" sz="1600" dirty="0"/>
          </a:p>
        </p:txBody>
      </p:sp>
      <p:sp>
        <p:nvSpPr>
          <p:cNvPr id="6" name="Text 4"/>
          <p:cNvSpPr/>
          <p:nvPr/>
        </p:nvSpPr>
        <p:spPr>
          <a:xfrm>
            <a:off x="727829" y="3691057"/>
            <a:ext cx="4194453" cy="389930"/>
          </a:xfrm>
          <a:prstGeom prst="rect">
            <a:avLst/>
          </a:prstGeom>
          <a:noFill/>
          <a:ln/>
        </p:spPr>
        <p:txBody>
          <a:bodyPr wrap="none" lIns="0" tIns="0" rIns="0" bIns="0" rtlCol="0" anchor="t"/>
          <a:lstStyle/>
          <a:p>
            <a:pPr algn="l" indent="0" marL="0">
              <a:lnSpc>
                <a:spcPts val="3050"/>
              </a:lnSpc>
              <a:buNone/>
            </a:pPr>
            <a:r>
              <a:rPr lang="en-US" sz="2450" b="1" dirty="0">
                <a:solidFill>
                  <a:srgbClr val="000000"/>
                </a:solidFill>
                <a:latin typeface="Inter Bold" pitchFamily="34" charset="0"/>
                <a:ea typeface="Inter Bold" pitchFamily="34" charset="-122"/>
                <a:cs typeface="Inter Bold" pitchFamily="34" charset="-120"/>
              </a:rPr>
              <a:t>Effectiveness of the Project</a:t>
            </a:r>
            <a:endParaRPr lang="en-US" sz="2450" dirty="0"/>
          </a:p>
        </p:txBody>
      </p:sp>
      <p:sp>
        <p:nvSpPr>
          <p:cNvPr id="7" name="Text 5"/>
          <p:cNvSpPr/>
          <p:nvPr/>
        </p:nvSpPr>
        <p:spPr>
          <a:xfrm>
            <a:off x="727829" y="4288869"/>
            <a:ext cx="6333768" cy="1331119"/>
          </a:xfrm>
          <a:prstGeom prst="rect">
            <a:avLst/>
          </a:prstGeom>
          <a:noFill/>
          <a:ln/>
        </p:spPr>
        <p:txBody>
          <a:bodyPr wrap="square" lIns="0" tIns="0" rIns="0" bIns="0" rtlCol="0" anchor="t"/>
          <a:lstStyle/>
          <a:p>
            <a:pPr algn="l" indent="0" marL="0">
              <a:lnSpc>
                <a:spcPts val="2600"/>
              </a:lnSpc>
              <a:buNone/>
            </a:pPr>
            <a:r>
              <a:rPr lang="en-US" sz="1600" dirty="0">
                <a:solidFill>
                  <a:srgbClr val="272525"/>
                </a:solidFill>
                <a:latin typeface="Inter" pitchFamily="34" charset="0"/>
                <a:ea typeface="Inter" pitchFamily="34" charset="-122"/>
                <a:cs typeface="Inter" pitchFamily="34" charset="-120"/>
              </a:rPr>
              <a:t>The session successfully enhanced students' understanding of online safety. Feedback showed increased confidence in identifying suspicious activities, adopting stronger passwords, and enabling two-factor authentication.</a:t>
            </a:r>
            <a:endParaRPr lang="en-US" sz="1600" dirty="0"/>
          </a:p>
        </p:txBody>
      </p:sp>
      <p:sp>
        <p:nvSpPr>
          <p:cNvPr id="8" name="Text 6"/>
          <p:cNvSpPr/>
          <p:nvPr/>
        </p:nvSpPr>
        <p:spPr>
          <a:xfrm>
            <a:off x="727829" y="5807035"/>
            <a:ext cx="6333768" cy="998339"/>
          </a:xfrm>
          <a:prstGeom prst="rect">
            <a:avLst/>
          </a:prstGeom>
          <a:noFill/>
          <a:ln/>
        </p:spPr>
        <p:txBody>
          <a:bodyPr wrap="square" lIns="0" tIns="0" rIns="0" bIns="0" rtlCol="0" anchor="t"/>
          <a:lstStyle/>
          <a:p>
            <a:pPr algn="l" indent="0" marL="0">
              <a:lnSpc>
                <a:spcPts val="2600"/>
              </a:lnSpc>
              <a:buNone/>
            </a:pPr>
            <a:r>
              <a:rPr lang="en-US" sz="1600" dirty="0">
                <a:solidFill>
                  <a:srgbClr val="272525"/>
                </a:solidFill>
                <a:latin typeface="Inter" pitchFamily="34" charset="0"/>
                <a:ea typeface="Inter" pitchFamily="34" charset="-122"/>
                <a:cs typeface="Inter" pitchFamily="34" charset="-120"/>
              </a:rPr>
              <a:t>The project sparked long-term curiosity, with some students expressing interest in advanced cybersecurity skills, effectively meeting its objective to educate and motivate.</a:t>
            </a:r>
            <a:endParaRPr lang="en-US" sz="1600" dirty="0"/>
          </a:p>
        </p:txBody>
      </p:sp>
      <p:pic>
        <p:nvPicPr>
          <p:cNvPr id="9" name="Image 0" descr="preencoded.png">    </p:cNvPr>
          <p:cNvPicPr>
            <a:picLocks noChangeAspect="1"/>
          </p:cNvPicPr>
          <p:nvPr/>
        </p:nvPicPr>
        <p:blipFill>
          <a:blip r:embed="rId1"/>
          <a:stretch>
            <a:fillRect/>
          </a:stretch>
        </p:blipFill>
        <p:spPr>
          <a:xfrm>
            <a:off x="7576423" y="1507450"/>
            <a:ext cx="6333768" cy="633376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80098" y="724138"/>
            <a:ext cx="7250787" cy="390049"/>
          </a:xfrm>
          <a:prstGeom prst="rect">
            <a:avLst/>
          </a:prstGeom>
          <a:noFill/>
          <a:ln/>
        </p:spPr>
        <p:txBody>
          <a:bodyPr wrap="none" lIns="0" tIns="0" rIns="0" bIns="0" rtlCol="0" anchor="t"/>
          <a:lstStyle/>
          <a:p>
            <a:pPr algn="l" indent="0" marL="0">
              <a:lnSpc>
                <a:spcPts val="3050"/>
              </a:lnSpc>
              <a:buNone/>
            </a:pPr>
            <a:r>
              <a:rPr lang="en-US" sz="2450" b="1" dirty="0">
                <a:solidFill>
                  <a:srgbClr val="000000"/>
                </a:solidFill>
                <a:latin typeface="Inter Bold" pitchFamily="34" charset="0"/>
                <a:ea typeface="Inter Bold" pitchFamily="34" charset="-122"/>
                <a:cs typeface="Inter Bold" pitchFamily="34" charset="-120"/>
              </a:rPr>
              <a:t>Conclusion: Towards a Digitally Literate Society</a:t>
            </a:r>
            <a:endParaRPr lang="en-US" sz="2450" dirty="0"/>
          </a:p>
        </p:txBody>
      </p:sp>
      <p:sp>
        <p:nvSpPr>
          <p:cNvPr id="3" name="Text 1"/>
          <p:cNvSpPr/>
          <p:nvPr/>
        </p:nvSpPr>
        <p:spPr>
          <a:xfrm>
            <a:off x="780098" y="1426250"/>
            <a:ext cx="13070205" cy="623887"/>
          </a:xfrm>
          <a:prstGeom prst="rect">
            <a:avLst/>
          </a:prstGeom>
          <a:noFill/>
          <a:ln/>
        </p:spPr>
        <p:txBody>
          <a:bodyPr wrap="square" lIns="0" tIns="0" rIns="0" bIns="0" rtlCol="0" anchor="t"/>
          <a:lstStyle/>
          <a:p>
            <a:pPr algn="l" indent="0" marL="0">
              <a:lnSpc>
                <a:spcPts val="2450"/>
              </a:lnSpc>
              <a:buNone/>
            </a:pPr>
            <a:r>
              <a:rPr lang="en-US" sz="1500" dirty="0">
                <a:solidFill>
                  <a:srgbClr val="272525"/>
                </a:solidFill>
                <a:latin typeface="Inter" pitchFamily="34" charset="0"/>
                <a:ea typeface="Inter" pitchFamily="34" charset="-122"/>
                <a:cs typeface="Inter" pitchFamily="34" charset="-120"/>
              </a:rPr>
              <a:t>The Cyber Security awareness session was a crucial step in empowering students with the necessary knowledge to navigate the digital realm safely. The growing dependence on technology has turned online safety into not just an individual responsibility but a collective necessity.</a:t>
            </a:r>
            <a:endParaRPr lang="en-US" sz="1500" dirty="0"/>
          </a:p>
        </p:txBody>
      </p:sp>
      <p:pic>
        <p:nvPicPr>
          <p:cNvPr id="4" name="Image 0" descr="preencoded.png">    </p:cNvPr>
          <p:cNvPicPr>
            <a:picLocks noChangeAspect="1"/>
          </p:cNvPicPr>
          <p:nvPr/>
        </p:nvPicPr>
        <p:blipFill>
          <a:blip r:embed="rId1"/>
          <a:stretch>
            <a:fillRect/>
          </a:stretch>
        </p:blipFill>
        <p:spPr>
          <a:xfrm>
            <a:off x="780098" y="2401133"/>
            <a:ext cx="4441388" cy="4441388"/>
          </a:xfrm>
          <a:prstGeom prst="rect">
            <a:avLst/>
          </a:prstGeom>
        </p:spPr>
      </p:pic>
      <p:sp>
        <p:nvSpPr>
          <p:cNvPr id="5" name="Text 2"/>
          <p:cNvSpPr/>
          <p:nvPr/>
        </p:nvSpPr>
        <p:spPr>
          <a:xfrm>
            <a:off x="7513082" y="2366010"/>
            <a:ext cx="6344841" cy="623887"/>
          </a:xfrm>
          <a:prstGeom prst="rect">
            <a:avLst/>
          </a:prstGeom>
          <a:noFill/>
          <a:ln/>
        </p:spPr>
        <p:txBody>
          <a:bodyPr wrap="square" lIns="0" tIns="0" rIns="0" bIns="0" rtlCol="0" anchor="t"/>
          <a:lstStyle/>
          <a:p>
            <a:pPr algn="l" marL="342900" indent="-342900">
              <a:lnSpc>
                <a:spcPts val="1950"/>
              </a:lnSpc>
              <a:buSzPct val="100000"/>
              <a:buChar char="•"/>
            </a:pPr>
            <a:r>
              <a:rPr lang="en-US" sz="1200" b="1" dirty="0">
                <a:solidFill>
                  <a:srgbClr val="272525"/>
                </a:solidFill>
                <a:latin typeface="Inter" pitchFamily="34" charset="0"/>
                <a:ea typeface="Inter" pitchFamily="34" charset="-122"/>
                <a:cs typeface="Inter" pitchFamily="34" charset="-120"/>
              </a:rPr>
              <a:t>Engaging Strategies:</a:t>
            </a:r>
            <a:pPr algn="l" indent="0" marL="0">
              <a:lnSpc>
                <a:spcPts val="1950"/>
              </a:lnSpc>
              <a:buNone/>
            </a:pPr>
            <a:r>
              <a:rPr lang="en-US" sz="1200" dirty="0">
                <a:solidFill>
                  <a:srgbClr val="272525"/>
                </a:solidFill>
                <a:latin typeface="Inter" pitchFamily="34" charset="0"/>
                <a:ea typeface="Inter" pitchFamily="34" charset="-122"/>
                <a:cs typeface="Inter" pitchFamily="34" charset="-120"/>
              </a:rPr>
              <a:t> Interactive teaching linked theoretical principles to real-world scenarios effectively.</a:t>
            </a:r>
            <a:endParaRPr lang="en-US" sz="1200" dirty="0"/>
          </a:p>
        </p:txBody>
      </p:sp>
      <p:sp>
        <p:nvSpPr>
          <p:cNvPr id="6" name="Text 3"/>
          <p:cNvSpPr/>
          <p:nvPr/>
        </p:nvSpPr>
        <p:spPr>
          <a:xfrm>
            <a:off x="7513082" y="3044428"/>
            <a:ext cx="6344841" cy="623887"/>
          </a:xfrm>
          <a:prstGeom prst="rect">
            <a:avLst/>
          </a:prstGeom>
          <a:noFill/>
          <a:ln/>
        </p:spPr>
        <p:txBody>
          <a:bodyPr wrap="square" lIns="0" tIns="0" rIns="0" bIns="0" rtlCol="0" anchor="t"/>
          <a:lstStyle/>
          <a:p>
            <a:pPr algn="l" marL="342900" indent="-342900">
              <a:lnSpc>
                <a:spcPts val="1950"/>
              </a:lnSpc>
              <a:buSzPct val="100000"/>
              <a:buChar char="•"/>
            </a:pPr>
            <a:r>
              <a:rPr lang="en-US" sz="1200" b="1" dirty="0">
                <a:solidFill>
                  <a:srgbClr val="272525"/>
                </a:solidFill>
                <a:latin typeface="Inter" pitchFamily="34" charset="0"/>
                <a:ea typeface="Inter" pitchFamily="34" charset="-122"/>
                <a:cs typeface="Inter" pitchFamily="34" charset="-120"/>
              </a:rPr>
              <a:t>Shifting Understanding:</a:t>
            </a:r>
            <a:pPr algn="l" indent="0" marL="0">
              <a:lnSpc>
                <a:spcPts val="1950"/>
              </a:lnSpc>
              <a:buNone/>
            </a:pPr>
            <a:r>
              <a:rPr lang="en-US" sz="1200" dirty="0">
                <a:solidFill>
                  <a:srgbClr val="272525"/>
                </a:solidFill>
                <a:latin typeface="Inter" pitchFamily="34" charset="0"/>
                <a:ea typeface="Inter" pitchFamily="34" charset="-122"/>
                <a:cs typeface="Inter" pitchFamily="34" charset="-120"/>
              </a:rPr>
              <a:t> Participants' feedback showed a significant shift in their perception of online safety.</a:t>
            </a:r>
            <a:endParaRPr lang="en-US" sz="1200" dirty="0"/>
          </a:p>
        </p:txBody>
      </p:sp>
      <p:sp>
        <p:nvSpPr>
          <p:cNvPr id="7" name="Text 4"/>
          <p:cNvSpPr/>
          <p:nvPr/>
        </p:nvSpPr>
        <p:spPr>
          <a:xfrm>
            <a:off x="7513082" y="3722846"/>
            <a:ext cx="6344841" cy="623887"/>
          </a:xfrm>
          <a:prstGeom prst="rect">
            <a:avLst/>
          </a:prstGeom>
          <a:noFill/>
          <a:ln/>
        </p:spPr>
        <p:txBody>
          <a:bodyPr wrap="square" lIns="0" tIns="0" rIns="0" bIns="0" rtlCol="0" anchor="t"/>
          <a:lstStyle/>
          <a:p>
            <a:pPr algn="l" marL="342900" indent="-342900">
              <a:lnSpc>
                <a:spcPts val="1950"/>
              </a:lnSpc>
              <a:buSzPct val="100000"/>
              <a:buChar char="•"/>
            </a:pPr>
            <a:r>
              <a:rPr lang="en-US" sz="1200" b="1" dirty="0">
                <a:solidFill>
                  <a:srgbClr val="272525"/>
                </a:solidFill>
                <a:latin typeface="Inter" pitchFamily="34" charset="0"/>
                <a:ea typeface="Inter" pitchFamily="34" charset="-122"/>
                <a:cs typeface="Inter" pitchFamily="34" charset="-120"/>
              </a:rPr>
              <a:t>Collective Necessity:</a:t>
            </a:r>
            <a:pPr algn="l" indent="0" marL="0">
              <a:lnSpc>
                <a:spcPts val="1950"/>
              </a:lnSpc>
              <a:buNone/>
            </a:pPr>
            <a:r>
              <a:rPr lang="en-US" sz="1200" dirty="0">
                <a:solidFill>
                  <a:srgbClr val="272525"/>
                </a:solidFill>
                <a:latin typeface="Inter" pitchFamily="34" charset="0"/>
                <a:ea typeface="Inter" pitchFamily="34" charset="-122"/>
                <a:cs typeface="Inter" pitchFamily="34" charset="-120"/>
              </a:rPr>
              <a:t> Online safety is a shared responsibility in an increasingly digital world.</a:t>
            </a:r>
            <a:endParaRPr lang="en-US" sz="1200" dirty="0"/>
          </a:p>
        </p:txBody>
      </p:sp>
      <p:sp>
        <p:nvSpPr>
          <p:cNvPr id="8" name="Text 5"/>
          <p:cNvSpPr/>
          <p:nvPr/>
        </p:nvSpPr>
        <p:spPr>
          <a:xfrm>
            <a:off x="7513082" y="4401264"/>
            <a:ext cx="6344841" cy="623887"/>
          </a:xfrm>
          <a:prstGeom prst="rect">
            <a:avLst/>
          </a:prstGeom>
          <a:noFill/>
          <a:ln/>
        </p:spPr>
        <p:txBody>
          <a:bodyPr wrap="square" lIns="0" tIns="0" rIns="0" bIns="0" rtlCol="0" anchor="t"/>
          <a:lstStyle/>
          <a:p>
            <a:pPr algn="l" marL="342900" indent="-342900">
              <a:lnSpc>
                <a:spcPts val="1950"/>
              </a:lnSpc>
              <a:buSzPct val="100000"/>
              <a:buChar char="•"/>
            </a:pPr>
            <a:r>
              <a:rPr lang="en-US" sz="1200" b="1" dirty="0">
                <a:solidFill>
                  <a:srgbClr val="272525"/>
                </a:solidFill>
                <a:latin typeface="Inter" pitchFamily="34" charset="0"/>
                <a:ea typeface="Inter" pitchFamily="34" charset="-122"/>
                <a:cs typeface="Inter" pitchFamily="34" charset="-120"/>
              </a:rPr>
              <a:t>Future Impact:</a:t>
            </a:r>
            <a:pPr algn="l" indent="0" marL="0">
              <a:lnSpc>
                <a:spcPts val="1950"/>
              </a:lnSpc>
              <a:buNone/>
            </a:pPr>
            <a:r>
              <a:rPr lang="en-US" sz="1200" dirty="0">
                <a:solidFill>
                  <a:srgbClr val="272525"/>
                </a:solidFill>
                <a:latin typeface="Inter" pitchFamily="34" charset="0"/>
                <a:ea typeface="Inter" pitchFamily="34" charset="-122"/>
                <a:cs typeface="Inter" pitchFamily="34" charset="-120"/>
              </a:rPr>
              <a:t> Further workshops can foster a digitally literate society, resilient against evolving threats.</a:t>
            </a:r>
            <a:endParaRPr lang="en-US" sz="1200" dirty="0"/>
          </a:p>
        </p:txBody>
      </p:sp>
      <p:sp>
        <p:nvSpPr>
          <p:cNvPr id="9" name="Text 6"/>
          <p:cNvSpPr/>
          <p:nvPr/>
        </p:nvSpPr>
        <p:spPr>
          <a:xfrm>
            <a:off x="7513082" y="5079683"/>
            <a:ext cx="6344841" cy="623887"/>
          </a:xfrm>
          <a:prstGeom prst="rect">
            <a:avLst/>
          </a:prstGeom>
          <a:noFill/>
          <a:ln/>
        </p:spPr>
        <p:txBody>
          <a:bodyPr wrap="square" lIns="0" tIns="0" rIns="0" bIns="0" rtlCol="0" anchor="t"/>
          <a:lstStyle/>
          <a:p>
            <a:pPr algn="l" marL="342900" indent="-342900">
              <a:lnSpc>
                <a:spcPts val="1950"/>
              </a:lnSpc>
              <a:buSzPct val="100000"/>
              <a:buChar char="•"/>
            </a:pPr>
            <a:r>
              <a:rPr lang="en-US" sz="1200" b="1" dirty="0">
                <a:solidFill>
                  <a:srgbClr val="272525"/>
                </a:solidFill>
                <a:latin typeface="Inter" pitchFamily="34" charset="0"/>
                <a:ea typeface="Inter" pitchFamily="34" charset="-122"/>
                <a:cs typeface="Inter" pitchFamily="34" charset="-120"/>
              </a:rPr>
              <a:t>Continuous Education:</a:t>
            </a:r>
            <a:pPr algn="l" indent="0" marL="0">
              <a:lnSpc>
                <a:spcPts val="1950"/>
              </a:lnSpc>
              <a:buNone/>
            </a:pPr>
            <a:r>
              <a:rPr lang="en-US" sz="1200" dirty="0">
                <a:solidFill>
                  <a:srgbClr val="272525"/>
                </a:solidFill>
                <a:latin typeface="Inter" pitchFamily="34" charset="0"/>
                <a:ea typeface="Inter" pitchFamily="34" charset="-122"/>
                <a:cs typeface="Inter" pitchFamily="34" charset="-120"/>
              </a:rPr>
              <a:t> Emphasizes the critical need for cybersecurity education in academic curricula.</a:t>
            </a:r>
            <a:endParaRPr lang="en-US" sz="1200" dirty="0"/>
          </a:p>
        </p:txBody>
      </p:sp>
      <p:sp>
        <p:nvSpPr>
          <p:cNvPr id="10" name="Text 7"/>
          <p:cNvSpPr/>
          <p:nvPr/>
        </p:nvSpPr>
        <p:spPr>
          <a:xfrm>
            <a:off x="780098" y="7193518"/>
            <a:ext cx="13070205" cy="311944"/>
          </a:xfrm>
          <a:prstGeom prst="rect">
            <a:avLst/>
          </a:prstGeom>
          <a:noFill/>
          <a:ln/>
        </p:spPr>
        <p:txBody>
          <a:bodyPr wrap="none" lIns="0" tIns="0" rIns="0" bIns="0" rtlCol="0" anchor="t"/>
          <a:lstStyle/>
          <a:p>
            <a:pPr algn="l" indent="0" marL="0">
              <a:lnSpc>
                <a:spcPts val="2450"/>
              </a:lnSpc>
              <a:buNone/>
            </a:pPr>
            <a:r>
              <a:rPr lang="en-US" sz="1500" dirty="0">
                <a:solidFill>
                  <a:srgbClr val="272525"/>
                </a:solidFill>
                <a:latin typeface="Inter" pitchFamily="34" charset="0"/>
                <a:ea typeface="Inter" pitchFamily="34" charset="-122"/>
                <a:cs typeface="Inter" pitchFamily="34" charset="-120"/>
              </a:rPr>
              <a:t>By promoting awareness, we can collectively work towards establishing a safer and more secure online environment for all.</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2025-11-23T05:35:40Z</dcterms:created>
  <dcterms:modified xsi:type="dcterms:W3CDTF">2025-11-23T05:35:40Z</dcterms:modified>
</cp:coreProperties>
</file>